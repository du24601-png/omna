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F86"/>
    <a:srgbClr val="8A7F74"/>
    <a:srgbClr val="F8F8F8"/>
    <a:srgbClr val="496A63"/>
    <a:srgbClr val="304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5399999999999995E-2"/>
          <c:y val="3.9239999999999997E-2"/>
          <c:w val="0.89407999999999999"/>
          <c:h val="0.8626700000000000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MCP TypeScript SDK 月下载量（百万次）</c:v>
                </c:pt>
              </c:strCache>
            </c:strRef>
          </c:tx>
          <c:spPr>
            <a:ln w="25400">
              <a:solidFill>
                <a:srgbClr val="5E6F86"/>
              </a:solidFill>
            </a:ln>
          </c:spPr>
          <c:marker>
            <c:symbol val="none"/>
          </c:marker>
          <c:dPt>
            <c:idx val="0"/>
            <c:marker>
              <c:symbol val="circle"/>
              <c:size val="6"/>
            </c:marker>
            <c:bubble3D val="0"/>
            <c:extLst>
              <c:ext xmlns:c16="http://schemas.microsoft.com/office/drawing/2014/chart" uri="{C3380CC4-5D6E-409C-BE32-E72D297353CC}">
                <c16:uniqueId val="{00000000-3C48-4DDC-BC1B-A59EEA8CD1DE}"/>
              </c:ext>
            </c:extLst>
          </c:dPt>
          <c:dPt>
            <c:idx val="17"/>
            <c:marker>
              <c:symbol val="circle"/>
              <c:size val="6"/>
            </c:marker>
            <c:bubble3D val="0"/>
            <c:extLst>
              <c:ext xmlns:c16="http://schemas.microsoft.com/office/drawing/2014/chart" uri="{C3380CC4-5D6E-409C-BE32-E72D297353CC}">
                <c16:uniqueId val="{00000001-3C48-4DDC-BC1B-A59EEA8CD1D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420 </a:t>
                    </a:r>
                    <a:r>
                      <a:rPr lang="zh-CN" alt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万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C48-4DDC-BC1B-A59EEA8CD1DE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2.19 </a:t>
                    </a:r>
                    <a:r>
                      <a:rPr lang="zh-CN" alt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亿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C48-4DDC-BC1B-A59EEA8CD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Sheet1!$A$2:$A$19</c:f>
              <c:numCache>
                <c:formatCode>yyyy\-mm</c:formatCode>
                <c:ptCount val="18"/>
                <c:pt idx="0">
                  <c:v>45748</c:v>
                </c:pt>
                <c:pt idx="1">
                  <c:v>45778</c:v>
                </c:pt>
                <c:pt idx="2">
                  <c:v>45809</c:v>
                </c:pt>
                <c:pt idx="3">
                  <c:v>45839</c:v>
                </c:pt>
                <c:pt idx="4">
                  <c:v>45870</c:v>
                </c:pt>
                <c:pt idx="5">
                  <c:v>45901</c:v>
                </c:pt>
                <c:pt idx="6">
                  <c:v>45931</c:v>
                </c:pt>
                <c:pt idx="7">
                  <c:v>45962</c:v>
                </c:pt>
                <c:pt idx="8">
                  <c:v>45992</c:v>
                </c:pt>
                <c:pt idx="9">
                  <c:v>46023</c:v>
                </c:pt>
                <c:pt idx="10">
                  <c:v>46054</c:v>
                </c:pt>
                <c:pt idx="11">
                  <c:v>46082</c:v>
                </c:pt>
                <c:pt idx="12">
                  <c:v>46113</c:v>
                </c:pt>
                <c:pt idx="13">
                  <c:v>46143</c:v>
                </c:pt>
                <c:pt idx="14">
                  <c:v>46174</c:v>
                </c:pt>
                <c:pt idx="15">
                  <c:v>46204</c:v>
                </c:pt>
                <c:pt idx="16">
                  <c:v>46235</c:v>
                </c:pt>
                <c:pt idx="17">
                  <c:v>46266</c:v>
                </c:pt>
              </c:numCache>
            </c:numRef>
          </c:cat>
          <c:val>
            <c:numRef>
              <c:f>Sheet1!$B$2:$B$19</c:f>
              <c:numCache>
                <c:formatCode>0.0</c:formatCode>
                <c:ptCount val="18"/>
                <c:pt idx="0">
                  <c:v>4.2127090000000003</c:v>
                </c:pt>
                <c:pt idx="1">
                  <c:v>20.933358999999999</c:v>
                </c:pt>
                <c:pt idx="2">
                  <c:v>16.837592999999998</c:v>
                </c:pt>
                <c:pt idx="3">
                  <c:v>21.605761000000001</c:v>
                </c:pt>
                <c:pt idx="4">
                  <c:v>24.658353000000002</c:v>
                </c:pt>
                <c:pt idx="5">
                  <c:v>31.258519</c:v>
                </c:pt>
                <c:pt idx="6">
                  <c:v>31.805028</c:v>
                </c:pt>
                <c:pt idx="7">
                  <c:v>35.008986999999998</c:v>
                </c:pt>
                <c:pt idx="8">
                  <c:v>38.516711999999998</c:v>
                </c:pt>
                <c:pt idx="9">
                  <c:v>50.249918000000001</c:v>
                </c:pt>
                <c:pt idx="10">
                  <c:v>71.656771000000006</c:v>
                </c:pt>
                <c:pt idx="11">
                  <c:v>141.91179600000001</c:v>
                </c:pt>
                <c:pt idx="12">
                  <c:v>140.092905</c:v>
                </c:pt>
                <c:pt idx="13">
                  <c:v>153.16413</c:v>
                </c:pt>
                <c:pt idx="14">
                  <c:v>165.17630500000001</c:v>
                </c:pt>
                <c:pt idx="15">
                  <c:v>191.923439</c:v>
                </c:pt>
                <c:pt idx="16">
                  <c:v>208.67348999999999</c:v>
                </c:pt>
                <c:pt idx="17">
                  <c:v>219.428527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C48-4DDC-BC1B-A59EEA8CD1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yyyy\-mm" sourceLinked="1"/>
        <c:majorTickMark val="in"/>
        <c:minorTickMark val="none"/>
        <c:tickLblPos val="nextTo"/>
        <c:spPr>
          <a:ln w="9525">
            <a:solidFill>
              <a:schemeClr val="tx1">
                <a:lumMod val="95000"/>
                <a:lumOff val="5000"/>
              </a:schemeClr>
            </a:solidFill>
          </a:ln>
        </c:spPr>
        <c:txPr>
          <a:bodyPr/>
          <a:lstStyle/>
          <a:p>
            <a:pPr>
              <a:defRPr sz="900">
                <a:solidFill>
                  <a:srgbClr val="262626"/>
                </a:solidFill>
                <a:latin typeface="Calibri"/>
                <a:ea typeface="Microsoft YaHei"/>
              </a:defRPr>
            </a:pPr>
            <a:endParaRPr lang="zh-CN"/>
          </a:p>
        </c:txPr>
        <c:crossAx val="2140495176"/>
        <c:crosses val="autoZero"/>
        <c:auto val="1"/>
        <c:lblOffset val="100"/>
        <c:baseTimeUnit val="months"/>
        <c:majorUnit val="3"/>
        <c:majorTimeUnit val="months"/>
      </c:dateAx>
      <c:valAx>
        <c:axId val="2140495176"/>
        <c:scaling>
          <c:orientation val="minMax"/>
          <c:max val="250"/>
          <c:min val="0"/>
        </c:scaling>
        <c:delete val="0"/>
        <c:axPos val="l"/>
        <c:numFmt formatCode="0" sourceLinked="0"/>
        <c:majorTickMark val="in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sz="900">
                <a:solidFill>
                  <a:srgbClr val="262626"/>
                </a:solidFill>
                <a:latin typeface="Calibri"/>
                <a:ea typeface="Microsoft YaHei"/>
              </a:defRPr>
            </a:pPr>
            <a:endParaRPr lang="zh-CN"/>
          </a:p>
        </c:txPr>
        <c:crossAx val="2118791784"/>
        <c:crosses val="autoZero"/>
        <c:crossBetween val="between"/>
        <c:majorUnit val="5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262626"/>
          </a:solidFill>
          <a:latin typeface="Calibri"/>
          <a:ea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1131000000000001"/>
          <c:y val="3.0089999999999999E-2"/>
          <c:w val="0.84380999999999995"/>
          <c:h val="0.7742900000000000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其他产品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FBFBF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0"/>
                  <c:y val="5.6430000000000001E-2"/>
                </c:manualLayout>
              </c:layout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ChatGPT </a:t>
                    </a:r>
                    <a:r>
                      <a:rPr lang="zh-CN" alt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记忆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868-4F65-83ED-67879D1DF16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Claude </a:t>
                    </a:r>
                    <a:r>
                      <a:rPr lang="zh-CN" alt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记忆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868-4F65-83ED-67879D1DF16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Gemini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868-4F65-83ED-67879D1DF16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Claude Code </a:t>
                    </a:r>
                    <a:r>
                      <a:rPr lang="zh-CN" alt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记忆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868-4F65-83ED-67879D1DF16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Microsoft Recall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868-4F65-83ED-67879D1DF16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Mem0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868-4F65-83ED-67879D1DF16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Supermemory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868-4F65-83ED-67879D1DF16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Basic Memory / Unabyss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868-4F65-83ED-67879D1DF16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MemoryPlugin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C868-4F65-83ED-67879D1DF16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AI Context Flow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C868-4F65-83ED-67879D1DF164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zh-CN" alt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手写 </a:t>
                    </a:r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CLAUDE.md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C868-4F65-83ED-67879D1DF1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1.5</c:v>
                </c:pt>
                <c:pt idx="2">
                  <c:v>1.5</c:v>
                </c:pt>
                <c:pt idx="3">
                  <c:v>1</c:v>
                </c:pt>
                <c:pt idx="4">
                  <c:v>1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5</c:v>
                </c:pt>
                <c:pt idx="9">
                  <c:v>4.5</c:v>
                </c:pt>
                <c:pt idx="10">
                  <c:v>2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3.5</c:v>
                </c:pt>
                <c:pt idx="4">
                  <c:v>2.5</c:v>
                </c:pt>
                <c:pt idx="5">
                  <c:v>1</c:v>
                </c:pt>
                <c:pt idx="6">
                  <c:v>1.5</c:v>
                </c:pt>
                <c:pt idx="7">
                  <c:v>3</c:v>
                </c:pt>
                <c:pt idx="8">
                  <c:v>2</c:v>
                </c:pt>
                <c:pt idx="9">
                  <c:v>3.5</c:v>
                </c:pt>
                <c:pt idx="10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C868-4F65-83ED-67879D1DF164}"/>
            </c:ext>
          </c:extLst>
        </c:ser>
        <c:ser>
          <c:idx val="1"/>
          <c:order val="1"/>
          <c:tx>
            <c:strRef>
              <c:f>Sheet1!$B$14</c:f>
              <c:strCache>
                <c:ptCount val="1"/>
                <c:pt idx="0">
                  <c:v>OMNA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 baseline="0" dirty="0">
                        <a:solidFill>
                          <a:schemeClr val="tx1"/>
                        </a:solidFill>
                        <a:latin typeface="Calibri"/>
                        <a:ea typeface="Microsoft YaHei"/>
                      </a:rPr>
                      <a:t>OMNA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C868-4F65-83ED-67879D1DF1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Sheet1!$A$15:$A$15</c:f>
              <c:numCache>
                <c:formatCode>General</c:formatCode>
                <c:ptCount val="1"/>
                <c:pt idx="0">
                  <c:v>4.5</c:v>
                </c:pt>
              </c:numCache>
            </c:numRef>
          </c:xVal>
          <c:yVal>
            <c:numRef>
              <c:f>Sheet1!$B$15:$B$15</c:f>
              <c:numCache>
                <c:formatCode>General</c:formatCode>
                <c:ptCount val="1"/>
                <c:pt idx="0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D-C868-4F65-83ED-67879D1DF164}"/>
            </c:ext>
          </c:extLst>
        </c:ser>
        <c:ser>
          <c:idx val="2"/>
          <c:order val="2"/>
          <c:tx>
            <c:strRef>
              <c:f>Sheet1!$B$17</c:f>
              <c:strCache>
                <c:ptCount val="1"/>
                <c:pt idx="0">
                  <c:v>分隔线 1</c:v>
                </c:pt>
              </c:strCache>
            </c:strRef>
          </c:tx>
          <c:spPr>
            <a:ln w="6350">
              <a:solidFill>
                <a:srgbClr val="E5E5E5"/>
              </a:solidFill>
            </a:ln>
          </c:spPr>
          <c:marker>
            <c:symbol val="none"/>
          </c:marker>
          <c:xVal>
            <c:numRef>
              <c:f>Sheet1!$A$18:$A$19</c:f>
              <c:numCache>
                <c:formatCode>General</c:formatCode>
                <c:ptCount val="2"/>
                <c:pt idx="0">
                  <c:v>3</c:v>
                </c:pt>
                <c:pt idx="1">
                  <c:v>3</c:v>
                </c:pt>
              </c:numCache>
            </c:numRef>
          </c:xVal>
          <c:yVal>
            <c:numRef>
              <c:f>Sheet1!$B$18:$B$19</c:f>
              <c:numCache>
                <c:formatCode>General</c:formatCode>
                <c:ptCount val="2"/>
                <c:pt idx="0">
                  <c:v>0.5</c:v>
                </c:pt>
                <c:pt idx="1">
                  <c:v>5.5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C868-4F65-83ED-67879D1DF164}"/>
            </c:ext>
          </c:extLst>
        </c:ser>
        <c:ser>
          <c:idx val="3"/>
          <c:order val="3"/>
          <c:tx>
            <c:strRef>
              <c:f>Sheet1!$B$21</c:f>
              <c:strCache>
                <c:ptCount val="1"/>
                <c:pt idx="0">
                  <c:v>分隔线 2</c:v>
                </c:pt>
              </c:strCache>
            </c:strRef>
          </c:tx>
          <c:spPr>
            <a:ln w="6350">
              <a:solidFill>
                <a:srgbClr val="E5E5E5"/>
              </a:solidFill>
            </a:ln>
          </c:spPr>
          <c:marker>
            <c:symbol val="none"/>
          </c:marker>
          <c:xVal>
            <c:numRef>
              <c:f>Sheet1!$A$22:$A$23</c:f>
              <c:numCache>
                <c:formatCode>General</c:formatCode>
                <c:ptCount val="2"/>
                <c:pt idx="0">
                  <c:v>0.5</c:v>
                </c:pt>
                <c:pt idx="1">
                  <c:v>5.5</c:v>
                </c:pt>
              </c:numCache>
            </c:numRef>
          </c:xVal>
          <c:yVal>
            <c:numRef>
              <c:f>Sheet1!$B$22:$B$23</c:f>
              <c:numCache>
                <c:formatCode>General</c:formatCode>
                <c:ptCount val="2"/>
                <c:pt idx="0">
                  <c:v>3</c:v>
                </c:pt>
                <c:pt idx="1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C868-4F65-83ED-67879D1DF164}"/>
            </c:ext>
          </c:extLst>
        </c:ser>
        <c:ser>
          <c:idx val="4"/>
          <c:order val="4"/>
          <c:tx>
            <c:strRef>
              <c:f>Sheet1!$B$25</c:f>
              <c:strCache>
                <c:ptCount val="1"/>
                <c:pt idx="0">
                  <c:v>X 轴刻度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737373"/>
                        </a:solidFill>
                        <a:latin typeface="Calibri"/>
                        <a:ea typeface="Microsoft YaHei"/>
                      </a:rPr>
                      <a:t>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C868-4F65-83ED-67879D1DF16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737373"/>
                        </a:solidFill>
                        <a:latin typeface="Calibri"/>
                        <a:ea typeface="Microsoft YaHei"/>
                      </a:rPr>
                      <a:t>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C868-4F65-83ED-67879D1DF16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737373"/>
                        </a:solidFill>
                        <a:latin typeface="Calibri"/>
                        <a:ea typeface="Microsoft YaHei"/>
                      </a:rPr>
                      <a:t>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C868-4F65-83ED-67879D1DF1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Sheet1!$A$26:$A$28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5</c:v>
                </c:pt>
              </c:numCache>
            </c:numRef>
          </c:xVal>
          <c:yVal>
            <c:numRef>
              <c:f>Sheet1!$B$26:$B$28</c:f>
              <c:numCache>
                <c:formatCode>General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3-C868-4F65-83ED-67879D1DF164}"/>
            </c:ext>
          </c:extLst>
        </c:ser>
        <c:ser>
          <c:idx val="5"/>
          <c:order val="5"/>
          <c:tx>
            <c:strRef>
              <c:f>Sheet1!$B$30</c:f>
              <c:strCache>
                <c:ptCount val="1"/>
                <c:pt idx="0">
                  <c:v>Y 轴刻度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737373"/>
                        </a:solidFill>
                        <a:latin typeface="Calibri"/>
                        <a:ea typeface="Microsoft YaHei"/>
                      </a:rPr>
                      <a:t>1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C868-4F65-83ED-67879D1DF16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737373"/>
                        </a:solidFill>
                        <a:latin typeface="Calibri"/>
                        <a:ea typeface="Microsoft YaHei"/>
                      </a:rPr>
                      <a:t>3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C868-4F65-83ED-67879D1DF16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737373"/>
                        </a:solidFill>
                        <a:latin typeface="Calibri"/>
                        <a:ea typeface="Microsoft YaHei"/>
                      </a:rPr>
                      <a:t>5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C868-4F65-83ED-67879D1DF1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Sheet1!$A$31:$A$33</c:f>
              <c:numCache>
                <c:formatCode>General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xVal>
          <c:yVal>
            <c:numRef>
              <c:f>Sheet1!$B$31:$B$33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7-C868-4F65-83ED-67879D1DF1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.5"/>
          <c:min val="0.5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跨工具程度（</a:t>
                </a:r>
                <a:r>
                  <a:rPr lang="en-US" altLang="zh-CN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1 </a:t>
                </a:r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单一平台 → </a:t>
                </a:r>
                <a:r>
                  <a:rPr lang="en-US" altLang="zh-CN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5 </a:t>
                </a:r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任意 </a:t>
                </a:r>
                <a:r>
                  <a:rPr lang="en-US" altLang="zh-CN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MCP </a:t>
                </a:r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客户端）</a:t>
                </a:r>
              </a:p>
            </c:rich>
          </c:tx>
          <c:layout>
            <c:manualLayout>
              <c:xMode val="edge"/>
              <c:yMode val="edge"/>
              <c:x val="0.29554999999999998"/>
              <c:y val="0.90595999999999999"/>
            </c:manualLayout>
          </c:layout>
          <c:overlay val="0"/>
        </c:title>
        <c:numFmt formatCode="General" sourceLinked="1"/>
        <c:majorTickMark val="none"/>
        <c:minorTickMark val="none"/>
        <c:tickLblPos val="none"/>
        <c:spPr>
          <a:ln w="9525">
            <a:solidFill>
              <a:schemeClr val="tx1"/>
            </a:solidFill>
          </a:ln>
        </c:spPr>
        <c:crossAx val="-2129643912"/>
        <c:crosses val="autoZero"/>
        <c:crossBetween val="midCat"/>
        <c:majorUnit val="1"/>
      </c:valAx>
      <c:valAx>
        <c:axId val="-2129643912"/>
        <c:scaling>
          <c:orientation val="minMax"/>
          <c:max val="5.5"/>
          <c:min val="0.5"/>
        </c:scaling>
        <c:delete val="0"/>
        <c:axPos val="l"/>
        <c:title>
          <c:tx>
            <c:rich>
              <a:bodyPr rot="-5400000" vert="horz"/>
              <a:lstStyle/>
              <a:p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用户把关程度</a:t>
                </a:r>
                <a:br>
                  <a:rPr lang="zh-CN" altLang="en-US"/>
                </a:br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（</a:t>
                </a:r>
                <a:r>
                  <a:rPr lang="en-US" altLang="zh-CN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1 </a:t>
                </a:r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自动写入 → </a:t>
                </a:r>
                <a:r>
                  <a:rPr lang="en-US" altLang="zh-CN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5 </a:t>
                </a:r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逐条批准）</a:t>
                </a:r>
              </a:p>
            </c:rich>
          </c:tx>
          <c:layout>
            <c:manualLayout>
              <c:xMode val="edge"/>
              <c:yMode val="edge"/>
              <c:x val="3.5899999999999999E-3"/>
              <c:y val="0.11575000000000001"/>
            </c:manualLayout>
          </c:layout>
          <c:overlay val="0"/>
        </c:title>
        <c:numFmt formatCode="General" sourceLinked="1"/>
        <c:majorTickMark val="none"/>
        <c:minorTickMark val="none"/>
        <c:tickLblPos val="none"/>
        <c:spPr>
          <a:ln w="9525">
            <a:solidFill>
              <a:schemeClr val="tx1"/>
            </a:solidFill>
          </a:ln>
        </c:spPr>
        <c:crossAx val="-2128940872"/>
        <c:crosses val="autoZero"/>
        <c:crossBetween val="midCat"/>
        <c:majorUnit val="1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262626"/>
          </a:solidFill>
          <a:latin typeface="Calibri"/>
          <a:ea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32316"/>
          <c:y val="1.6029999999999999E-2"/>
          <c:w val="0.59245999999999999"/>
          <c:h val="0.9679499999999999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0072BC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5E6F86"/>
              </a:solidFill>
              <a:ln>
                <a:solidFill>
                  <a:srgbClr val="F8F8F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13BD-4992-B183-447D14AD1E41}"/>
              </c:ext>
            </c:extLst>
          </c:dPt>
          <c:dPt>
            <c:idx val="1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3BD-4992-B183-447D14AD1E41}"/>
              </c:ext>
            </c:extLst>
          </c:dPt>
          <c:dPt>
            <c:idx val="2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3BD-4992-B183-447D14AD1E41}"/>
              </c:ext>
            </c:extLst>
          </c:dPt>
          <c:dPt>
            <c:idx val="3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13BD-4992-B183-447D14AD1E41}"/>
              </c:ext>
            </c:extLst>
          </c:dPt>
          <c:dPt>
            <c:idx val="4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13BD-4992-B183-447D14AD1E41}"/>
              </c:ext>
            </c:extLst>
          </c:dPt>
          <c:dPt>
            <c:idx val="5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13BD-4992-B183-447D14AD1E41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62626"/>
                    </a:solidFill>
                    <a:latin typeface="Calibri"/>
                    <a:ea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重复解释 / 跨工具碎片化</c:v>
                </c:pt>
                <c:pt idx="1">
                  <c:v>接入门槛与效果存疑</c:v>
                </c:pt>
                <c:pt idx="2">
                  <c:v>现有替代方案不够用</c:v>
                </c:pt>
                <c:pt idx="3">
                  <c:v>缺少控制 / 记忆质量与污染</c:v>
                </c:pt>
                <c:pt idx="4">
                  <c:v>隐私与信任</c:v>
                </c:pt>
                <c:pt idx="5">
                  <c:v>跨设备接续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3BD-4992-B183-447D14AD1E4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in"/>
        <c:minorTickMark val="none"/>
        <c:tickLblPos val="nextTo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900">
                <a:solidFill>
                  <a:srgbClr val="262626"/>
                </a:solidFill>
                <a:latin typeface="Calibri"/>
                <a:ea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"/>
          <c:min val="0"/>
        </c:scaling>
        <c:delete val="0"/>
        <c:axPos val="t"/>
        <c:numFmt formatCode="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262626"/>
          </a:solidFill>
          <a:latin typeface="Calibri"/>
          <a:ea typeface="Microsoft YaHe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9083999999999999"/>
          <c:y val="1.4019999999999999E-2"/>
          <c:w val="0.63734000000000002"/>
          <c:h val="0.9719600000000000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0072BC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5E6F8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803-49B3-BF30-6FEC1E64CABE}"/>
              </c:ext>
            </c:extLst>
          </c:dPt>
          <c:dPt>
            <c:idx val="1"/>
            <c:invertIfNegative val="1"/>
            <c:bubble3D val="0"/>
            <c:spPr>
              <a:solidFill>
                <a:srgbClr val="5E6F8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803-49B3-BF30-6FEC1E64CABE}"/>
              </c:ext>
            </c:extLst>
          </c:dPt>
          <c:dPt>
            <c:idx val="2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803-49B3-BF30-6FEC1E64CABE}"/>
              </c:ext>
            </c:extLst>
          </c:dPt>
          <c:dPt>
            <c:idx val="3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2803-49B3-BF30-6FEC1E64CABE}"/>
              </c:ext>
            </c:extLst>
          </c:dPt>
          <c:dPt>
            <c:idx val="4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2803-49B3-BF30-6FEC1E64CABE}"/>
              </c:ext>
            </c:extLst>
          </c:dPt>
          <c:dPt>
            <c:idx val="5"/>
            <c:invertIfNegative val="1"/>
            <c:bubble3D val="0"/>
            <c:spPr>
              <a:solidFill>
                <a:schemeClr val="bg1">
                  <a:lumMod val="95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2803-49B3-BF30-6FEC1E64CABE}"/>
              </c:ext>
            </c:extLst>
          </c:dPt>
          <c:dPt>
            <c:idx val="6"/>
            <c:invertIfNegative val="1"/>
            <c:bubble3D val="0"/>
            <c:spPr>
              <a:solidFill>
                <a:schemeClr val="bg1">
                  <a:lumMod val="95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2803-49B3-BF30-6FEC1E64CABE}"/>
              </c:ext>
            </c:extLst>
          </c:dPt>
          <c:dPt>
            <c:idx val="7"/>
            <c:invertIfNegative val="1"/>
            <c:bubble3D val="0"/>
            <c:spPr>
              <a:solidFill>
                <a:schemeClr val="bg1">
                  <a:lumMod val="95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2803-49B3-BF30-6FEC1E64CABE}"/>
              </c:ext>
            </c:extLst>
          </c:dPt>
          <c:dPt>
            <c:idx val="8"/>
            <c:invertIfNegative val="1"/>
            <c:bubble3D val="0"/>
            <c:spPr>
              <a:solidFill>
                <a:schemeClr val="bg1">
                  <a:lumMod val="95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2803-49B3-BF30-6FEC1E64CA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62626"/>
                    </a:solidFill>
                    <a:latin typeface="Calibri"/>
                    <a:ea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管理</c:v>
                </c:pt>
                <c:pt idx="1">
                  <c:v>商业与金融</c:v>
                </c:pt>
                <c:pt idx="2">
                  <c:v>医疗从业</c:v>
                </c:pt>
                <c:pt idx="3">
                  <c:v>教育</c:v>
                </c:pt>
                <c:pt idx="4">
                  <c:v>计算机与数学（开发者）</c:v>
                </c:pt>
                <c:pt idx="5">
                  <c:v>建筑与工程</c:v>
                </c:pt>
                <c:pt idx="6">
                  <c:v>艺术、设计与媒体</c:v>
                </c:pt>
                <c:pt idx="7">
                  <c:v>生命、物理与社会科学</c:v>
                </c:pt>
                <c:pt idx="8">
                  <c:v>法律</c:v>
                </c:pt>
              </c:strCache>
            </c:strRef>
          </c:cat>
          <c:val>
            <c:numRef>
              <c:f>Sheet1!$B$2:$B$10</c:f>
              <c:numCache>
                <c:formatCode>#,##0</c:formatCode>
                <c:ptCount val="9"/>
                <c:pt idx="0">
                  <c:v>1113.27</c:v>
                </c:pt>
                <c:pt idx="1">
                  <c:v>1053.7239999999999</c:v>
                </c:pt>
                <c:pt idx="2">
                  <c:v>982.38599999999997</c:v>
                </c:pt>
                <c:pt idx="3">
                  <c:v>910.05700000000002</c:v>
                </c:pt>
                <c:pt idx="4">
                  <c:v>526.01099999999997</c:v>
                </c:pt>
                <c:pt idx="5">
                  <c:v>261.71300000000002</c:v>
                </c:pt>
                <c:pt idx="6">
                  <c:v>204.62899999999999</c:v>
                </c:pt>
                <c:pt idx="7">
                  <c:v>147.32599999999999</c:v>
                </c:pt>
                <c:pt idx="8">
                  <c:v>130.56200000000001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803-49B3-BF30-6FEC1E64CAB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in"/>
        <c:minorTickMark val="none"/>
        <c:tickLblPos val="nextTo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900">
                <a:solidFill>
                  <a:srgbClr val="262626"/>
                </a:solidFill>
                <a:latin typeface="Calibri"/>
                <a:ea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300"/>
          <c:min val="0"/>
        </c:scaling>
        <c:delete val="0"/>
        <c:axPos val="t"/>
        <c:numFmt formatCode="#,##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262626"/>
          </a:solidFill>
          <a:latin typeface="Calibri"/>
          <a:ea typeface="Microsoft YaHe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9083999999999999"/>
          <c:y val="1.5640000000000001E-2"/>
          <c:w val="0.61939"/>
          <c:h val="0.9687299999999999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501-464A-9F49-5A640DE48442}"/>
              </c:ext>
            </c:extLst>
          </c:dPt>
          <c:dPt>
            <c:idx val="1"/>
            <c:invertIfNegative val="1"/>
            <c:bubble3D val="0"/>
            <c:spPr>
              <a:solidFill>
                <a:srgbClr val="5E6F8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501-464A-9F49-5A640DE48442}"/>
              </c:ext>
            </c:extLst>
          </c:dPt>
          <c:dPt>
            <c:idx val="2"/>
            <c:invertIfNegative val="1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501-464A-9F49-5A640DE48442}"/>
              </c:ext>
            </c:extLst>
          </c:dPt>
          <c:dPt>
            <c:idx val="3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6501-464A-9F49-5A640DE48442}"/>
              </c:ext>
            </c:extLst>
          </c:dPt>
          <c:dPt>
            <c:idx val="4"/>
            <c:invertIfNegative val="1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6501-464A-9F49-5A640DE48442}"/>
              </c:ext>
            </c:extLst>
          </c:dPt>
          <c:dPt>
            <c:idx val="5"/>
            <c:invertIfNegative val="1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6501-464A-9F49-5A640DE48442}"/>
              </c:ext>
            </c:extLst>
          </c:dPt>
          <c:dPt>
            <c:idx val="6"/>
            <c:invertIfNegative val="1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6501-464A-9F49-5A640DE48442}"/>
              </c:ext>
            </c:extLst>
          </c:dPt>
          <c:dPt>
            <c:idx val="7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6501-464A-9F49-5A640DE48442}"/>
              </c:ext>
            </c:extLst>
          </c:dPt>
          <c:dPt>
            <c:idx val="8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6501-464A-9F49-5A640DE4844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501-464A-9F49-5A640DE4844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900" b="1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$6</a:t>
                    </a:r>
                    <a:r>
                      <a:rPr lang="zh-CN" altLang="en-US" sz="900" b="1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（月付 </a:t>
                    </a:r>
                    <a:r>
                      <a:rPr lang="en-US" altLang="zh-CN" sz="900" b="1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$8</a:t>
                    </a:r>
                    <a:r>
                      <a:rPr lang="zh-CN" altLang="en-US" sz="900" b="1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）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501-464A-9F49-5A640DE4844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$7.4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501-464A-9F49-5A640DE4844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501-464A-9F49-5A640DE4844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$8.3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501-464A-9F49-5A640DE4844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6501-464A-9F49-5A640DE4844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$15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6501-464A-9F49-5A640DE4844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$17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6501-464A-9F49-5A640DE4844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$20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6501-464A-9F49-5A640DE4844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Obsidian Sync</c:v>
                </c:pt>
                <c:pt idx="1">
                  <c:v>OMNA Pro（建议）</c:v>
                </c:pt>
                <c:pt idx="2">
                  <c:v>MemoryPlugin</c:v>
                </c:pt>
                <c:pt idx="3">
                  <c:v>Raycast Pro</c:v>
                </c:pt>
                <c:pt idx="4">
                  <c:v>AI Context Flow</c:v>
                </c:pt>
                <c:pt idx="5">
                  <c:v>MemoryBase</c:v>
                </c:pt>
                <c:pt idx="6">
                  <c:v>Basic Memory 云版（月付）</c:v>
                </c:pt>
                <c:pt idx="7">
                  <c:v>Claude Pro</c:v>
                </c:pt>
                <c:pt idx="8">
                  <c:v>ChatGPT Plus（月付）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4</c:v>
                </c:pt>
                <c:pt idx="1">
                  <c:v>6</c:v>
                </c:pt>
                <c:pt idx="2">
                  <c:v>7.4166670000000003</c:v>
                </c:pt>
                <c:pt idx="3">
                  <c:v>8</c:v>
                </c:pt>
                <c:pt idx="4">
                  <c:v>8.25</c:v>
                </c:pt>
                <c:pt idx="5">
                  <c:v>9</c:v>
                </c:pt>
                <c:pt idx="6">
                  <c:v>15</c:v>
                </c:pt>
                <c:pt idx="7">
                  <c:v>17</c:v>
                </c:pt>
                <c:pt idx="8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501-464A-9F49-5A640DE484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in"/>
        <c:minorTickMark val="none"/>
        <c:tickLblPos val="nextTo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900">
                <a:solidFill>
                  <a:srgbClr val="262626"/>
                </a:solidFill>
                <a:latin typeface="Calibri"/>
                <a:ea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4"/>
          <c:min val="0"/>
        </c:scaling>
        <c:delete val="0"/>
        <c:axPos val="t"/>
        <c:numFmt formatCode="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262626"/>
          </a:solidFill>
          <a:latin typeface="Calibri"/>
          <a:ea typeface="Microsoft YaHe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38856000000000002"/>
          <c:y val="8.5989999999999997E-2"/>
          <c:w val="0.43191000000000002"/>
          <c:h val="0.9061900000000000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下限 / 数值</c:v>
                </c:pt>
              </c:strCache>
            </c:strRef>
          </c:tx>
          <c:spPr>
            <a:solidFill>
              <a:srgbClr val="0072BC"/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5E6F8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AF9-4B25-A83D-DCAB56855E5F}"/>
              </c:ext>
            </c:extLst>
          </c:dPt>
          <c:dPt>
            <c:idx val="1"/>
            <c:invertIfNegative val="1"/>
            <c:bubble3D val="0"/>
            <c:spPr>
              <a:solidFill>
                <a:srgbClr val="5E6F8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AF9-4B25-A83D-DCAB56855E5F}"/>
              </c:ext>
            </c:extLst>
          </c:dPt>
          <c:dPt>
            <c:idx val="2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8AF9-4B25-A83D-DCAB56855E5F}"/>
              </c:ext>
            </c:extLst>
          </c:dPt>
          <c:dPt>
            <c:idx val="3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8AF9-4B25-A83D-DCAB56855E5F}"/>
              </c:ext>
            </c:extLst>
          </c:dPt>
          <c:dPt>
            <c:idx val="4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8AF9-4B25-A83D-DCAB56855E5F}"/>
              </c:ext>
            </c:extLst>
          </c:dPt>
          <c:dPt>
            <c:idx val="5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8AF9-4B25-A83D-DCAB56855E5F}"/>
              </c:ext>
            </c:extLst>
          </c:dPt>
          <c:cat>
            <c:strRef>
              <c:f>Sheet1!$A$2:$A$7</c:f>
              <c:strCache>
                <c:ptCount val="6"/>
                <c:pt idx="0">
                  <c:v>激活用户首年收入</c:v>
                </c:pt>
                <c:pt idx="1">
                  <c:v>长期盈亏线（含续费与推荐）</c:v>
                </c:pt>
                <c:pt idx="2">
                  <c:v>Product Hunt 流量：综合获客成本</c:v>
                </c:pt>
                <c:pt idx="3">
                  <c:v>Google 搜索广告：单次点击</c:v>
                </c:pt>
                <c:pt idx="4">
                  <c:v>LinkedIn 广告（美国）：单次点击</c:v>
                </c:pt>
                <c:pt idx="5">
                  <c:v>LinkedIn 广告（B2B SaaS）：单次点击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1.0644</c:v>
                </c:pt>
                <c:pt idx="1">
                  <c:v>3.3333330000000001</c:v>
                </c:pt>
                <c:pt idx="2">
                  <c:v>3</c:v>
                </c:pt>
                <c:pt idx="3">
                  <c:v>5.26</c:v>
                </c:pt>
                <c:pt idx="4">
                  <c:v>8</c:v>
                </c:pt>
                <c:pt idx="5">
                  <c:v>10.48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AF9-4B25-A83D-DCAB56855E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到上限的差</c:v>
                </c:pt>
              </c:strCache>
            </c:strRef>
          </c:tx>
          <c:spPr>
            <a:solidFill>
              <a:srgbClr val="8FC1E1"/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8FC1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E-8AF9-4B25-A83D-DCAB56855E5F}"/>
              </c:ext>
            </c:extLst>
          </c:dPt>
          <c:dPt>
            <c:idx val="1"/>
            <c:invertIfNegative val="1"/>
            <c:bubble3D val="0"/>
            <c:spPr>
              <a:solidFill>
                <a:srgbClr val="8FC1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0-8AF9-4B25-A83D-DCAB56855E5F}"/>
              </c:ext>
            </c:extLst>
          </c:dPt>
          <c:dPt>
            <c:idx val="2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2-8AF9-4B25-A83D-DCAB56855E5F}"/>
              </c:ext>
            </c:extLst>
          </c:dPt>
          <c:dPt>
            <c:idx val="3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4-8AF9-4B25-A83D-DCAB56855E5F}"/>
              </c:ext>
            </c:extLst>
          </c:dPt>
          <c:dPt>
            <c:idx val="4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6-8AF9-4B25-A83D-DCAB56855E5F}"/>
              </c:ext>
            </c:extLst>
          </c:dPt>
          <c:dPt>
            <c:idx val="5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8-8AF9-4B25-A83D-DCAB56855E5F}"/>
              </c:ext>
            </c:extLst>
          </c:dPt>
          <c:cat>
            <c:strRef>
              <c:f>Sheet1!$A$2:$A$7</c:f>
              <c:strCache>
                <c:ptCount val="6"/>
                <c:pt idx="0">
                  <c:v>激活用户首年收入</c:v>
                </c:pt>
                <c:pt idx="1">
                  <c:v>长期盈亏线（含续费与推荐）</c:v>
                </c:pt>
                <c:pt idx="2">
                  <c:v>Product Hunt 流量：综合获客成本</c:v>
                </c:pt>
                <c:pt idx="3">
                  <c:v>Google 搜索广告：单次点击</c:v>
                </c:pt>
                <c:pt idx="4">
                  <c:v>LinkedIn 广告（美国）：单次点击</c:v>
                </c:pt>
                <c:pt idx="5">
                  <c:v>LinkedIn 广告（B2B SaaS）：单次点击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1.0955999999999999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2</c:v>
                </c:pt>
                <c:pt idx="5">
                  <c:v>5.24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8AF9-4B25-A83D-DCAB56855E5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标签偏移（仅排版，让首行标签落在盈亏线右侧）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激活用户首年收入</c:v>
                </c:pt>
                <c:pt idx="1">
                  <c:v>长期盈亏线（含续费与推荐）</c:v>
                </c:pt>
                <c:pt idx="2">
                  <c:v>Product Hunt 流量：综合获客成本</c:v>
                </c:pt>
                <c:pt idx="3">
                  <c:v>Google 搜索广告：单次点击</c:v>
                </c:pt>
                <c:pt idx="4">
                  <c:v>LinkedIn 广告（美国）：单次点击</c:v>
                </c:pt>
                <c:pt idx="5">
                  <c:v>LinkedIn 广告（B2B SaaS）：单次点击</c:v>
                </c:pt>
              </c:strCache>
            </c:strRef>
          </c:cat>
          <c:val>
            <c:numRef>
              <c:f>Sheet1!$D$2:$D$7</c:f>
              <c:numCache>
                <c:formatCode>0.00</c:formatCode>
                <c:ptCount val="6"/>
                <c:pt idx="0">
                  <c:v>1.8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8AF9-4B25-A83D-DCAB56855E5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标签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$1.06–2.16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8AF9-4B25-A83D-DCAB56855E5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$3.33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8AF9-4B25-A83D-DCAB56855E5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$3–5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8AF9-4B25-A83D-DCAB56855E5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$5.26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8AF9-4B25-A83D-DCAB56855E5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$8–10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8AF9-4B25-A83D-DCAB56855E5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$10.48–15.72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8AF9-4B25-A83D-DCAB56855E5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激活用户首年收入</c:v>
                </c:pt>
                <c:pt idx="1">
                  <c:v>长期盈亏线（含续费与推荐）</c:v>
                </c:pt>
                <c:pt idx="2">
                  <c:v>Product Hunt 流量：综合获客成本</c:v>
                </c:pt>
                <c:pt idx="3">
                  <c:v>Google 搜索广告：单次点击</c:v>
                </c:pt>
                <c:pt idx="4">
                  <c:v>LinkedIn 广告（美国）：单次点击</c:v>
                </c:pt>
                <c:pt idx="5">
                  <c:v>LinkedIn 广告（B2B SaaS）：单次点击</c:v>
                </c:pt>
              </c:strCache>
            </c:strRef>
          </c:cat>
          <c:val>
            <c:numRef>
              <c:f>Sheet1!$E$2:$E$7</c:f>
              <c:numCache>
                <c:formatCode>0.00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8AF9-4B25-A83D-DCAB56855E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6350"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262626"/>
                </a:solidFill>
                <a:latin typeface="Calibri"/>
                <a:ea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"/>
          <c:min val="0"/>
        </c:scaling>
        <c:delete val="0"/>
        <c:axPos val="t"/>
        <c:numFmt formatCode="0.0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262626"/>
          </a:solidFill>
          <a:latin typeface="Calibri"/>
          <a:ea typeface="Microsoft YaHe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41594999999999999"/>
          <c:y val="0.11916"/>
          <c:w val="0.57326999999999995"/>
          <c:h val="0.8738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开始前（周）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Sheet1!$A$2:$A$15</c:f>
              <c:strCache>
                <c:ptCount val="14"/>
                <c:pt idx="0">
                  <c:v>产品｜私测首次体验（50 名种子用户）</c:v>
                </c:pt>
                <c:pt idx="1">
                  <c:v>产品｜公开 Beta、扩展目录与商店上架</c:v>
                </c:pt>
                <c:pt idx="2">
                  <c:v>产品｜优化首次体验；Pro 上线</c:v>
                </c:pt>
                <c:pt idx="3">
                  <c:v>产品｜模板分享上线</c:v>
                </c:pt>
                <c:pt idx="4">
                  <c:v>研究｜用户访谈 12–15 次</c:v>
                </c:pt>
                <c:pt idx="5">
                  <c:v>研究｜PMF 调查</c:v>
                </c:pt>
                <c:pt idx="6">
                  <c:v>研究｜第 8 周复盘</c:v>
                </c:pt>
                <c:pt idx="7">
                  <c:v>内容｜落地页、等候名单、3 套职业模板</c:v>
                </c:pt>
                <c:pt idx="8">
                  <c:v>内容｜Product Hunt 首发 + YouTube 演示</c:v>
                </c:pt>
                <c:pt idx="9">
                  <c:v>内容｜LinkedIn 行业场景内容（每周）</c:v>
                </c:pt>
                <c:pt idx="10">
                  <c:v>内容｜创作者 / Newsletter 合作（两批）</c:v>
                </c:pt>
                <c:pt idx="11">
                  <c:v>商业化｜口号方向测试</c:v>
                </c:pt>
                <c:pt idx="12">
                  <c:v>商业化｜口号 A/B（落地页，全部流量）</c:v>
                </c:pt>
                <c:pt idx="13">
                  <c:v>商业化｜工作空间用量与付费观察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0</c:v>
                </c:pt>
                <c:pt idx="5">
                  <c:v>4</c:v>
                </c:pt>
                <c:pt idx="6">
                  <c:v>7</c:v>
                </c:pt>
                <c:pt idx="7">
                  <c:v>0</c:v>
                </c:pt>
                <c:pt idx="8">
                  <c:v>3</c:v>
                </c:pt>
                <c:pt idx="9">
                  <c:v>2</c:v>
                </c:pt>
                <c:pt idx="10">
                  <c:v>4</c:v>
                </c:pt>
                <c:pt idx="11">
                  <c:v>0</c:v>
                </c:pt>
                <c:pt idx="12">
                  <c:v>2</c:v>
                </c:pt>
                <c:pt idx="1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A4-49D8-BB0D-CF7320CB18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持续（周）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EA4-49D8-BB0D-CF7320CB18A2}"/>
              </c:ext>
            </c:extLst>
          </c:dPt>
          <c:dPt>
            <c:idx val="1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FEA4-49D8-BB0D-CF7320CB18A2}"/>
              </c:ext>
            </c:extLst>
          </c:dPt>
          <c:dPt>
            <c:idx val="2"/>
            <c:invertIfNegative val="1"/>
            <c:bubble3D val="0"/>
            <c:spPr>
              <a:solidFill>
                <a:srgbClr val="8FC1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FEA4-49D8-BB0D-CF7320CB18A2}"/>
              </c:ext>
            </c:extLst>
          </c:dPt>
          <c:dPt>
            <c:idx val="3"/>
            <c:invertIfNegative val="1"/>
            <c:bubble3D val="0"/>
            <c:spPr>
              <a:solidFill>
                <a:srgbClr val="8FC1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FEA4-49D8-BB0D-CF7320CB18A2}"/>
              </c:ext>
            </c:extLst>
          </c:dPt>
          <c:dPt>
            <c:idx val="4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FEA4-49D8-BB0D-CF7320CB18A2}"/>
              </c:ext>
            </c:extLst>
          </c:dPt>
          <c:dPt>
            <c:idx val="5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FEA4-49D8-BB0D-CF7320CB18A2}"/>
              </c:ext>
            </c:extLst>
          </c:dPt>
          <c:dPt>
            <c:idx val="6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E-FEA4-49D8-BB0D-CF7320CB18A2}"/>
              </c:ext>
            </c:extLst>
          </c:dPt>
          <c:dPt>
            <c:idx val="7"/>
            <c:invertIfNegative val="1"/>
            <c:bubble3D val="0"/>
            <c:spPr>
              <a:solidFill>
                <a:srgbClr val="8FC1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0-FEA4-49D8-BB0D-CF7320CB18A2}"/>
              </c:ext>
            </c:extLst>
          </c:dPt>
          <c:dPt>
            <c:idx val="8"/>
            <c:invertIfNegative val="1"/>
            <c:bubble3D val="0"/>
            <c:spPr>
              <a:solidFill>
                <a:srgbClr val="0072B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2-FEA4-49D8-BB0D-CF7320CB18A2}"/>
              </c:ext>
            </c:extLst>
          </c:dPt>
          <c:dPt>
            <c:idx val="9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4-FEA4-49D8-BB0D-CF7320CB18A2}"/>
              </c:ext>
            </c:extLst>
          </c:dPt>
          <c:dPt>
            <c:idx val="10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6-FEA4-49D8-BB0D-CF7320CB18A2}"/>
              </c:ext>
            </c:extLst>
          </c:dPt>
          <c:dPt>
            <c:idx val="11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8-FEA4-49D8-BB0D-CF7320CB18A2}"/>
              </c:ext>
            </c:extLst>
          </c:dPt>
          <c:dPt>
            <c:idx val="12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A-FEA4-49D8-BB0D-CF7320CB18A2}"/>
              </c:ext>
            </c:extLst>
          </c:dPt>
          <c:dPt>
            <c:idx val="13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C-FEA4-49D8-BB0D-CF7320CB18A2}"/>
              </c:ext>
            </c:extLst>
          </c:dPt>
          <c:cat>
            <c:strRef>
              <c:f>Sheet1!$A$2:$A$15</c:f>
              <c:strCache>
                <c:ptCount val="14"/>
                <c:pt idx="0">
                  <c:v>产品｜私测首次体验（50 名种子用户）</c:v>
                </c:pt>
                <c:pt idx="1">
                  <c:v>产品｜公开 Beta、扩展目录与商店上架</c:v>
                </c:pt>
                <c:pt idx="2">
                  <c:v>产品｜优化首次体验；Pro 上线</c:v>
                </c:pt>
                <c:pt idx="3">
                  <c:v>产品｜模板分享上线</c:v>
                </c:pt>
                <c:pt idx="4">
                  <c:v>研究｜用户访谈 12–15 次</c:v>
                </c:pt>
                <c:pt idx="5">
                  <c:v>研究｜PMF 调查</c:v>
                </c:pt>
                <c:pt idx="6">
                  <c:v>研究｜第 8 周复盘</c:v>
                </c:pt>
                <c:pt idx="7">
                  <c:v>内容｜落地页、等候名单、3 套职业模板</c:v>
                </c:pt>
                <c:pt idx="8">
                  <c:v>内容｜Product Hunt 首发 + YouTube 演示</c:v>
                </c:pt>
                <c:pt idx="9">
                  <c:v>内容｜LinkedIn 行业场景内容（每周）</c:v>
                </c:pt>
                <c:pt idx="10">
                  <c:v>内容｜创作者 / Newsletter 合作（两批）</c:v>
                </c:pt>
                <c:pt idx="11">
                  <c:v>商业化｜口号方向测试</c:v>
                </c:pt>
                <c:pt idx="12">
                  <c:v>商业化｜口号 A/B（落地页，全部流量）</c:v>
                </c:pt>
                <c:pt idx="13">
                  <c:v>商业化｜工作空间用量与付费观察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2</c:v>
                </c:pt>
                <c:pt idx="6">
                  <c:v>1</c:v>
                </c:pt>
                <c:pt idx="7">
                  <c:v>2</c:v>
                </c:pt>
                <c:pt idx="8">
                  <c:v>1</c:v>
                </c:pt>
                <c:pt idx="9">
                  <c:v>6</c:v>
                </c:pt>
                <c:pt idx="10">
                  <c:v>4</c:v>
                </c:pt>
                <c:pt idx="11">
                  <c:v>2</c:v>
                </c:pt>
                <c:pt idx="12">
                  <c:v>6</c:v>
                </c:pt>
                <c:pt idx="1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FEA4-49D8-BB0D-CF7320CB18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6350"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262626"/>
                </a:solidFill>
                <a:latin typeface="Calibri"/>
                <a:ea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"/>
          <c:min val="0"/>
        </c:scaling>
        <c:delete val="0"/>
        <c:axPos val="t"/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262626"/>
          </a:solidFill>
          <a:latin typeface="Calibri"/>
          <a:ea typeface="Microsoft YaHe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33943000000000001"/>
          <c:y val="8.5989999999999997E-2"/>
          <c:w val="0.59235000000000004"/>
          <c:h val="0.9061900000000000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下行（相对基准的变化）</c:v>
                </c:pt>
              </c:strCache>
            </c:strRef>
          </c:tx>
          <c:spPr>
            <a:solidFill>
              <a:srgbClr val="0072BC"/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0072B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2AE-4E86-912E-B6598A649B49}"/>
              </c:ext>
            </c:extLst>
          </c:dPt>
          <c:dPt>
            <c:idx val="1"/>
            <c:invertIfNegative val="1"/>
            <c:bubble3D val="0"/>
            <c:spPr>
              <a:solidFill>
                <a:srgbClr val="8FC1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2AE-4E86-912E-B6598A649B49}"/>
              </c:ext>
            </c:extLst>
          </c:dPt>
          <c:dPt>
            <c:idx val="2"/>
            <c:invertIfNegative val="1"/>
            <c:bubble3D val="0"/>
            <c:spPr>
              <a:solidFill>
                <a:srgbClr val="8FC1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2AE-4E86-912E-B6598A649B49}"/>
              </c:ext>
            </c:extLst>
          </c:dPt>
          <c:dPt>
            <c:idx val="3"/>
            <c:invertIfNegative val="1"/>
            <c:bubble3D val="0"/>
            <c:spPr>
              <a:solidFill>
                <a:srgbClr val="8FC1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2AE-4E86-912E-B6598A649B49}"/>
              </c:ext>
            </c:extLst>
          </c:dPt>
          <c:dPt>
            <c:idx val="4"/>
            <c:invertIfNegative val="1"/>
            <c:bubble3D val="0"/>
            <c:spPr>
              <a:solidFill>
                <a:srgbClr val="8FC1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E2AE-4E86-912E-B6598A649B4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62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2AE-4E86-912E-B6598A649B4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73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2AE-4E86-912E-B6598A649B4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77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2AE-4E86-912E-B6598A649B4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2AE-4E86-912E-B6598A649B4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91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2AE-4E86-912E-B6598A649B4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下载率（3.8%）</c:v>
                </c:pt>
                <c:pt idx="1">
                  <c:v>访客数（约 8,200 / 约 27,000）</c:v>
                </c:pt>
                <c:pt idx="2">
                  <c:v>安装完成率（50% / 85%）</c:v>
                </c:pt>
                <c:pt idx="3">
                  <c:v>7 天激活率（25% / 36%）</c:v>
                </c:pt>
                <c:pt idx="4">
                  <c:v>Windows 访客比例（55% / 70%）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-45.5</c:v>
                </c:pt>
                <c:pt idx="1">
                  <c:v>-33.97</c:v>
                </c:pt>
                <c:pt idx="2">
                  <c:v>-30.64</c:v>
                </c:pt>
                <c:pt idx="3">
                  <c:v>-17.87</c:v>
                </c:pt>
                <c:pt idx="4">
                  <c:v>-15.8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2AE-4E86-912E-B6598A649B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上行（相对基准的变化）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E2AE-4E86-912E-B6598A649B49}"/>
              </c:ext>
            </c:extLst>
          </c:dPt>
          <c:dPt>
            <c:idx val="1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E-E2AE-4E86-912E-B6598A649B49}"/>
              </c:ext>
            </c:extLst>
          </c:dPt>
          <c:dPt>
            <c:idx val="2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0-E2AE-4E86-912E-B6598A649B49}"/>
              </c:ext>
            </c:extLst>
          </c:dPt>
          <c:dPt>
            <c:idx val="3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2-E2AE-4E86-912E-B6598A649B49}"/>
              </c:ext>
            </c:extLst>
          </c:dPt>
          <c:dPt>
            <c:idx val="4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4-E2AE-4E86-912E-B6598A649B49}"/>
              </c:ext>
            </c:extLst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242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E2AE-4E86-912E-B6598A649B4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130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E2AE-4E86-912E-B6598A649B4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129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E2AE-4E86-912E-B6598A649B4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116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E2AE-4E86-912E-B6598A649B4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下载率（3.8%）</c:v>
                </c:pt>
                <c:pt idx="1">
                  <c:v>访客数（约 8,200 / 约 27,000）</c:v>
                </c:pt>
                <c:pt idx="2">
                  <c:v>安装完成率（50% / 85%）</c:v>
                </c:pt>
                <c:pt idx="3">
                  <c:v>7 天激活率（25% / 36%）</c:v>
                </c:pt>
                <c:pt idx="4">
                  <c:v>Windows 访客比例（55% / 70%）</c:v>
                </c:pt>
              </c:strCache>
            </c:strRef>
          </c:cat>
          <c:val>
            <c:numRef>
              <c:f>Sheet1!$C$2:$C$6</c:f>
              <c:numCache>
                <c:formatCode>0.00</c:formatCode>
                <c:ptCount val="5"/>
                <c:pt idx="0">
                  <c:v>0</c:v>
                </c:pt>
                <c:pt idx="1">
                  <c:v>134.30000000000001</c:v>
                </c:pt>
                <c:pt idx="2">
                  <c:v>22.98</c:v>
                </c:pt>
                <c:pt idx="3">
                  <c:v>21.45</c:v>
                </c:pt>
                <c:pt idx="4">
                  <c:v>9.14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2AE-4E86-912E-B6598A649B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900">
                <a:solidFill>
                  <a:srgbClr val="262626"/>
                </a:solidFill>
                <a:latin typeface="Calibri"/>
                <a:ea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0"/>
          <c:min val="-60"/>
        </c:scaling>
        <c:delete val="0"/>
        <c:axPos val="t"/>
        <c:numFmt formatCode="0.0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262626"/>
          </a:solidFill>
          <a:latin typeface="Calibri"/>
          <a:ea typeface="Microsoft YaHe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1131000000000001"/>
          <c:y val="2.6159999999999999E-2"/>
          <c:w val="0.82943999999999996"/>
          <c:h val="0.80381000000000002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其他风险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FBFBF"/>
              </a:solidFill>
              <a:ln>
                <a:noFill/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R2 </a:t>
                    </a:r>
                    <a:r>
                      <a:rPr lang="zh-CN" alt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用户维护成本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D1F-4A27-8816-417FDF9886D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R3 </a:t>
                    </a:r>
                    <a:r>
                      <a:rPr lang="zh-CN" alt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隐私与信任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D1F-4A27-8816-417FDF9886D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R4 </a:t>
                    </a:r>
                    <a:r>
                      <a:rPr lang="zh-CN" alt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第三方接入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D1F-4A27-8816-417FDF9886D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R5 </a:t>
                    </a:r>
                    <a:r>
                      <a:rPr lang="zh-CN" alt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付费意愿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D1F-4A27-8816-417FDF9886D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R6 </a:t>
                    </a:r>
                    <a:r>
                      <a:rPr lang="zh-CN" alt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企业 </a:t>
                    </a:r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IT </a:t>
                    </a:r>
                    <a:r>
                      <a:rPr lang="zh-CN" alt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管控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D1F-4A27-8816-417FDF9886D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R7 </a:t>
                    </a:r>
                    <a:r>
                      <a:rPr lang="zh-CN" altLang="en-US" sz="900" b="0">
                        <a:solidFill>
                          <a:srgbClr val="262626"/>
                        </a:solidFill>
                        <a:latin typeface="Calibri"/>
                        <a:ea typeface="Microsoft YaHei"/>
                      </a:rPr>
                      <a:t>赛道同质化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D1F-4A27-8816-417FDF9886D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3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4.22</c:v>
                </c:pt>
                <c:pt idx="2">
                  <c:v>4.4400000000000004</c:v>
                </c:pt>
                <c:pt idx="3">
                  <c:v>3</c:v>
                </c:pt>
                <c:pt idx="4">
                  <c:v>4.66</c:v>
                </c:pt>
                <c:pt idx="5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9D1F-4A27-8816-417FDF9886D4}"/>
            </c:ext>
          </c:extLst>
        </c:ser>
        <c:ser>
          <c:idx val="1"/>
          <c:order val="1"/>
          <c:tx>
            <c:strRef>
              <c:f>Sheet1!$B$9</c:f>
              <c:strCache>
                <c:ptCount val="1"/>
                <c:pt idx="0">
                  <c:v>R1 平台免费内置记忆</c:v>
                </c:pt>
              </c:strCache>
            </c:strRef>
          </c:tx>
          <c:spPr>
            <a:ln w="47625">
              <a:solidFill>
                <a:schemeClr val="tx1"/>
              </a:solidFill>
            </a:ln>
          </c:spPr>
          <c:marker>
            <c:symbol val="circle"/>
            <c:size val="9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Lbls>
            <c:dLbl>
              <c:idx val="0"/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altLang="zh-CN" sz="900" b="1" baseline="0" dirty="0">
                        <a:solidFill>
                          <a:schemeClr val="tx1"/>
                        </a:solidFill>
                        <a:latin typeface="Calibri"/>
                        <a:ea typeface="Microsoft YaHei"/>
                      </a:rPr>
                      <a:t>R1 </a:t>
                    </a:r>
                    <a:r>
                      <a:rPr lang="zh-CN" altLang="en-US" sz="900" b="1" baseline="0" dirty="0">
                        <a:solidFill>
                          <a:schemeClr val="tx1"/>
                        </a:solidFill>
                        <a:latin typeface="Calibri"/>
                        <a:ea typeface="Microsoft YaHei"/>
                      </a:rPr>
                      <a:t>平台免费内置记忆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845202473568719"/>
                      <c:h val="8.1198910081743875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7-9D1F-4A27-8816-417FDF9886D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Sheet1!$A$10:$A$10</c:f>
              <c:numCache>
                <c:formatCode>General</c:formatCode>
                <c:ptCount val="1"/>
                <c:pt idx="0">
                  <c:v>4</c:v>
                </c:pt>
              </c:numCache>
            </c:numRef>
          </c:xVal>
          <c:yVal>
            <c:numRef>
              <c:f>Sheet1!$B$10:$B$10</c:f>
              <c:numCache>
                <c:formatCode>General</c:formatCode>
                <c:ptCount val="1"/>
                <c:pt idx="0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9D1F-4A27-8816-417FDF9886D4}"/>
            </c:ext>
          </c:extLst>
        </c:ser>
        <c:ser>
          <c:idx val="2"/>
          <c:order val="2"/>
          <c:tx>
            <c:strRef>
              <c:f>Sheet1!$B$12</c:f>
              <c:strCache>
                <c:ptCount val="1"/>
                <c:pt idx="0">
                  <c:v>分隔线 1</c:v>
                </c:pt>
              </c:strCache>
            </c:strRef>
          </c:tx>
          <c:spPr>
            <a:ln w="6350">
              <a:solidFill>
                <a:srgbClr val="E5E5E5"/>
              </a:solidFill>
            </a:ln>
          </c:spPr>
          <c:marker>
            <c:symbol val="none"/>
          </c:marker>
          <c:xVal>
            <c:numRef>
              <c:f>Sheet1!$A$13:$A$14</c:f>
              <c:numCache>
                <c:formatCode>General</c:formatCode>
                <c:ptCount val="2"/>
                <c:pt idx="0">
                  <c:v>3.5</c:v>
                </c:pt>
                <c:pt idx="1">
                  <c:v>3.5</c:v>
                </c:pt>
              </c:numCache>
            </c:numRef>
          </c:xVal>
          <c:yVal>
            <c:numRef>
              <c:f>Sheet1!$B$13:$B$14</c:f>
              <c:numCache>
                <c:formatCode>General</c:formatCode>
                <c:ptCount val="2"/>
                <c:pt idx="0">
                  <c:v>0.5</c:v>
                </c:pt>
                <c:pt idx="1">
                  <c:v>5.5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9D1F-4A27-8816-417FDF9886D4}"/>
            </c:ext>
          </c:extLst>
        </c:ser>
        <c:ser>
          <c:idx val="3"/>
          <c:order val="3"/>
          <c:tx>
            <c:strRef>
              <c:f>Sheet1!$B$16</c:f>
              <c:strCache>
                <c:ptCount val="1"/>
                <c:pt idx="0">
                  <c:v>分隔线 2</c:v>
                </c:pt>
              </c:strCache>
            </c:strRef>
          </c:tx>
          <c:spPr>
            <a:ln w="6350">
              <a:solidFill>
                <a:srgbClr val="E5E5E5"/>
              </a:solidFill>
            </a:ln>
          </c:spPr>
          <c:marker>
            <c:symbol val="none"/>
          </c:marker>
          <c:xVal>
            <c:numRef>
              <c:f>Sheet1!$A$17:$A$18</c:f>
              <c:numCache>
                <c:formatCode>General</c:formatCode>
                <c:ptCount val="2"/>
                <c:pt idx="0">
                  <c:v>0.5</c:v>
                </c:pt>
                <c:pt idx="1">
                  <c:v>5.5</c:v>
                </c:pt>
              </c:numCache>
            </c:numRef>
          </c:xVal>
          <c:yVal>
            <c:numRef>
              <c:f>Sheet1!$B$17:$B$18</c:f>
              <c:numCache>
                <c:formatCode>General</c:formatCode>
                <c:ptCount val="2"/>
                <c:pt idx="0">
                  <c:v>3.5</c:v>
                </c:pt>
                <c:pt idx="1">
                  <c:v>3.5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9D1F-4A27-8816-417FDF9886D4}"/>
            </c:ext>
          </c:extLst>
        </c:ser>
        <c:ser>
          <c:idx val="4"/>
          <c:order val="4"/>
          <c:tx>
            <c:strRef>
              <c:f>Sheet1!$B$20</c:f>
              <c:strCache>
                <c:ptCount val="1"/>
                <c:pt idx="0">
                  <c:v>X 轴刻度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737373"/>
                        </a:solidFill>
                        <a:latin typeface="Calibri"/>
                        <a:ea typeface="Microsoft YaHei"/>
                      </a:rPr>
                      <a:t>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9D1F-4A27-8816-417FDF9886D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737373"/>
                        </a:solidFill>
                        <a:latin typeface="Calibri"/>
                        <a:ea typeface="Microsoft YaHei"/>
                      </a:rPr>
                      <a:t>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9D1F-4A27-8816-417FDF9886D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737373"/>
                        </a:solidFill>
                        <a:latin typeface="Calibri"/>
                        <a:ea typeface="Microsoft YaHei"/>
                      </a:rPr>
                      <a:t>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9D1F-4A27-8816-417FDF9886D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Sheet1!$A$21:$A$23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5</c:v>
                </c:pt>
              </c:numCache>
            </c:numRef>
          </c:xVal>
          <c:yVal>
            <c:numRef>
              <c:f>Sheet1!$B$21:$B$23</c:f>
              <c:numCache>
                <c:formatCode>General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9D1F-4A27-8816-417FDF9886D4}"/>
            </c:ext>
          </c:extLst>
        </c:ser>
        <c:ser>
          <c:idx val="5"/>
          <c:order val="5"/>
          <c:tx>
            <c:strRef>
              <c:f>Sheet1!$B$25</c:f>
              <c:strCache>
                <c:ptCount val="1"/>
                <c:pt idx="0">
                  <c:v>Y 轴刻度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737373"/>
                        </a:solidFill>
                        <a:latin typeface="Calibri"/>
                        <a:ea typeface="Microsoft YaHei"/>
                      </a:rPr>
                      <a:t>1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9D1F-4A27-8816-417FDF9886D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737373"/>
                        </a:solidFill>
                        <a:latin typeface="Calibri"/>
                        <a:ea typeface="Microsoft YaHei"/>
                      </a:rPr>
                      <a:t>3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9D1F-4A27-8816-417FDF9886D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900" b="0">
                        <a:solidFill>
                          <a:srgbClr val="737373"/>
                        </a:solidFill>
                        <a:latin typeface="Calibri"/>
                        <a:ea typeface="Microsoft YaHei"/>
                      </a:rPr>
                      <a:t>5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9D1F-4A27-8816-417FDF9886D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Sheet1!$A$26:$A$28</c:f>
              <c:numCache>
                <c:formatCode>General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xVal>
          <c:yVal>
            <c:numRef>
              <c:f>Sheet1!$B$26:$B$28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2-9D1F-4A27-8816-417FDF9886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.5"/>
          <c:min val="0.5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发生的可能性（</a:t>
                </a:r>
                <a:r>
                  <a:rPr lang="en-US" altLang="zh-CN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1 </a:t>
                </a:r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很低 → </a:t>
                </a:r>
                <a:r>
                  <a:rPr lang="en-US" altLang="zh-CN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5 </a:t>
                </a:r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很高）</a:t>
                </a:r>
              </a:p>
            </c:rich>
          </c:tx>
          <c:layout>
            <c:manualLayout>
              <c:xMode val="edge"/>
              <c:yMode val="edge"/>
              <c:x val="0.35970000000000002"/>
              <c:y val="0.91825999999999997"/>
            </c:manualLayout>
          </c:layout>
          <c:overlay val="0"/>
        </c:title>
        <c:numFmt formatCode="General" sourceLinked="1"/>
        <c:majorTickMark val="none"/>
        <c:minorTickMark val="none"/>
        <c:tickLblPos val="none"/>
        <c:spPr>
          <a:ln w="6350">
            <a:solidFill>
              <a:srgbClr val="BFBFBF"/>
            </a:solidFill>
          </a:ln>
        </c:spPr>
        <c:crossAx val="-2129643912"/>
        <c:crosses val="autoZero"/>
        <c:crossBetween val="midCat"/>
        <c:majorUnit val="1"/>
      </c:valAx>
      <c:valAx>
        <c:axId val="-2129643912"/>
        <c:scaling>
          <c:orientation val="minMax"/>
          <c:max val="5.5"/>
          <c:min val="0.5"/>
        </c:scaling>
        <c:delete val="0"/>
        <c:axPos val="l"/>
        <c:title>
          <c:tx>
            <c:rich>
              <a:bodyPr rot="-5400000" vert="horz"/>
              <a:lstStyle/>
              <a:p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对 </a:t>
                </a:r>
                <a:r>
                  <a:rPr 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OMNA </a:t>
                </a:r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的影响</a:t>
                </a:r>
                <a:br>
                  <a:rPr lang="zh-CN" altLang="en-US"/>
                </a:br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（</a:t>
                </a:r>
                <a:r>
                  <a:rPr lang="en-US" altLang="zh-CN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1 </a:t>
                </a:r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很小 → </a:t>
                </a:r>
                <a:r>
                  <a:rPr lang="en-US" altLang="zh-CN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5 </a:t>
                </a:r>
                <a:r>
                  <a:rPr lang="zh-CN" altLang="en-US" sz="900" b="0">
                    <a:solidFill>
                      <a:srgbClr val="737373"/>
                    </a:solidFill>
                    <a:latin typeface="Calibri"/>
                    <a:ea typeface="Microsoft YaHei"/>
                  </a:rPr>
                  <a:t>致命）</a:t>
                </a:r>
              </a:p>
            </c:rich>
          </c:tx>
          <c:layout>
            <c:manualLayout>
              <c:xMode val="edge"/>
              <c:yMode val="edge"/>
              <c:x val="3.5899999999999999E-3"/>
              <c:y val="0.24775"/>
            </c:manualLayout>
          </c:layout>
          <c:overlay val="0"/>
        </c:title>
        <c:numFmt formatCode="General" sourceLinked="1"/>
        <c:majorTickMark val="none"/>
        <c:minorTickMark val="none"/>
        <c:tickLblPos val="none"/>
        <c:spPr>
          <a:ln w="6350">
            <a:solidFill>
              <a:srgbClr val="BFBFBF"/>
            </a:solidFill>
          </a:ln>
        </c:spPr>
        <c:crossAx val="-2128940872"/>
        <c:crosses val="autoZero"/>
        <c:crossBetween val="midCat"/>
        <c:majorUnit val="1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262626"/>
          </a:solidFill>
          <a:latin typeface="Calibri"/>
          <a:ea typeface="Microsoft YaHe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167"/>
          <c:y val="1.4019999999999999E-2"/>
          <c:w val="0.86534999999999995"/>
          <c:h val="0.9719600000000000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级</c:v>
                </c:pt>
              </c:strCache>
            </c:strRef>
          </c:tx>
          <c:spPr>
            <a:solidFill>
              <a:srgbClr val="0072BC"/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FD20-40A7-A628-F6E75353EDB0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FD20-40A7-A628-F6E75353EDB0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FD20-40A7-A628-F6E75353EDB0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FD20-40A7-A628-F6E75353EDB0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  <a:latin typeface="Calibri"/>
                    <a:ea typeface="Microsoft YaHei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执行基准</c:v>
                </c:pt>
                <c:pt idx="1">
                  <c:v>市场数据</c:v>
                </c:pt>
                <c:pt idx="2">
                  <c:v>竞品数据</c:v>
                </c:pt>
                <c:pt idx="3">
                  <c:v>用户数据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</c:v>
                </c:pt>
                <c:pt idx="1">
                  <c:v>10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D20-40A7-A628-F6E75353ED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级</c:v>
                </c:pt>
              </c:strCache>
            </c:strRef>
          </c:tx>
          <c:spPr>
            <a:solidFill>
              <a:srgbClr val="8FC1E1"/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A-FD20-40A7-A628-F6E75353EDB0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C-FD20-40A7-A628-F6E75353EDB0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E-FD20-40A7-A628-F6E75353EDB0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0-FD20-40A7-A628-F6E75353EDB0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62626"/>
                    </a:solidFill>
                    <a:latin typeface="Calibri"/>
                    <a:ea typeface="Microsoft YaHei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执行基准</c:v>
                </c:pt>
                <c:pt idx="1">
                  <c:v>市场数据</c:v>
                </c:pt>
                <c:pt idx="2">
                  <c:v>竞品数据</c:v>
                </c:pt>
                <c:pt idx="3">
                  <c:v>用户数据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12</c:v>
                </c:pt>
                <c:pt idx="1">
                  <c:v>3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FD20-40A7-A628-F6E75353ED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级</c:v>
                </c:pt>
              </c:strCache>
            </c:strRef>
          </c:tx>
          <c:spPr>
            <a:solidFill>
              <a:srgbClr val="E5E5E5"/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FD20-40A7-A628-F6E75353EDB0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FD20-40A7-A628-F6E75353EDB0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FD20-40A7-A628-F6E75353EDB0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9-FD20-40A7-A628-F6E75353EDB0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62626"/>
                    </a:solidFill>
                    <a:latin typeface="Calibri"/>
                    <a:ea typeface="Microsoft YaHei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执行基准</c:v>
                </c:pt>
                <c:pt idx="1">
                  <c:v>市场数据</c:v>
                </c:pt>
                <c:pt idx="2">
                  <c:v>竞品数据</c:v>
                </c:pt>
                <c:pt idx="3">
                  <c:v>用户数据</c:v>
                </c:pt>
              </c:strCache>
            </c:strRef>
          </c:cat>
          <c:val>
            <c:numRef>
              <c:f>Sheet1!$D$2:$D$5</c:f>
              <c:numCache>
                <c:formatCode>0</c:formatCode>
                <c:ptCount val="4"/>
                <c:pt idx="0">
                  <c:v>2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FD20-40A7-A628-F6E75353ED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6350"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262626"/>
                </a:solidFill>
                <a:latin typeface="Calibri"/>
                <a:ea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"/>
          <c:min val="0"/>
        </c:scaling>
        <c:delete val="0"/>
        <c:axPos val="t"/>
        <c:numFmt formatCode="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262626"/>
          </a:solidFill>
          <a:latin typeface="Calibri"/>
          <a:ea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7ABF7-F021-48FA-8868-F42210AB598D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10281-E989-4930-9C1F-401394CC4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811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10281-E989-4930-9C1F-401394CC4AF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00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Titl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dirty="0">
                <a:solidFill>
                  <a:srgbClr val="F2F2F2"/>
                </a:solidFill>
                <a:latin typeface="Calibri"/>
                <a:ea typeface="Microsoft YaHei Light"/>
              </a:rPr>
              <a:t>OMNA</a:t>
            </a:r>
            <a:r>
              <a:rPr lang="zh-CN" sz="3000" b="0" i="0" dirty="0">
                <a:solidFill>
                  <a:srgbClr val="8C8C8C"/>
                </a:solidFill>
                <a:latin typeface="Calibri"/>
                <a:ea typeface="Microsoft YaHei Light"/>
              </a:rPr>
              <a:t> 美国市场 GTM 策略</a:t>
            </a:r>
          </a:p>
        </p:txBody>
      </p:sp>
      <p:sp>
        <p:nvSpPr>
          <p:cNvPr id="4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8C8C8C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"/>
          <p:cNvSpPr txBox="1"/>
          <p:nvPr/>
        </p:nvSpPr>
        <p:spPr>
          <a:xfrm>
            <a:off x="3520440" y="877824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核心结论</a:t>
            </a:r>
          </a:p>
        </p:txBody>
      </p:sp>
      <p:sp>
        <p:nvSpPr>
          <p:cNvPr id="3" name="TOCNo"/>
          <p:cNvSpPr txBox="1"/>
          <p:nvPr/>
        </p:nvSpPr>
        <p:spPr>
          <a:xfrm>
            <a:off x="3520440" y="877824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4" name="TOC"/>
          <p:cNvSpPr txBox="1"/>
          <p:nvPr/>
        </p:nvSpPr>
        <p:spPr>
          <a:xfrm>
            <a:off x="3520440" y="1316736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市场与时机</a:t>
            </a:r>
          </a:p>
        </p:txBody>
      </p:sp>
      <p:sp>
        <p:nvSpPr>
          <p:cNvPr id="5" name="TOCNo"/>
          <p:cNvSpPr txBox="1"/>
          <p:nvPr/>
        </p:nvSpPr>
        <p:spPr>
          <a:xfrm>
            <a:off x="3520440" y="1316736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6" name="TOC"/>
          <p:cNvSpPr txBox="1"/>
          <p:nvPr/>
        </p:nvSpPr>
        <p:spPr>
          <a:xfrm>
            <a:off x="3520440" y="1755648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竞争格局</a:t>
            </a:r>
          </a:p>
        </p:txBody>
      </p:sp>
      <p:sp>
        <p:nvSpPr>
          <p:cNvPr id="7" name="TOCNo"/>
          <p:cNvSpPr txBox="1"/>
          <p:nvPr/>
        </p:nvSpPr>
        <p:spPr>
          <a:xfrm>
            <a:off x="3520440" y="1755648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8" name="TOC"/>
          <p:cNvSpPr txBox="1"/>
          <p:nvPr/>
        </p:nvSpPr>
        <p:spPr>
          <a:xfrm>
            <a:off x="3520440" y="2194560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用户洞察</a:t>
            </a:r>
          </a:p>
        </p:txBody>
      </p:sp>
      <p:sp>
        <p:nvSpPr>
          <p:cNvPr id="9" name="TOCNo"/>
          <p:cNvSpPr txBox="1"/>
          <p:nvPr/>
        </p:nvSpPr>
        <p:spPr>
          <a:xfrm>
            <a:off x="3520440" y="2194560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10" name="TOC"/>
          <p:cNvSpPr txBox="1"/>
          <p:nvPr/>
        </p:nvSpPr>
        <p:spPr>
          <a:xfrm>
            <a:off x="3520440" y="2633472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目标用户与定位</a:t>
            </a:r>
          </a:p>
        </p:txBody>
      </p:sp>
      <p:sp>
        <p:nvSpPr>
          <p:cNvPr id="11" name="TOCNo"/>
          <p:cNvSpPr txBox="1"/>
          <p:nvPr/>
        </p:nvSpPr>
        <p:spPr>
          <a:xfrm>
            <a:off x="3520440" y="2633472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12" name="TOC"/>
          <p:cNvSpPr txBox="1"/>
          <p:nvPr/>
        </p:nvSpPr>
        <p:spPr>
          <a:xfrm>
            <a:off x="3520440" y="3072384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商业模式与定价</a:t>
            </a:r>
          </a:p>
        </p:txBody>
      </p:sp>
      <p:sp>
        <p:nvSpPr>
          <p:cNvPr id="13" name="TOCNo"/>
          <p:cNvSpPr txBox="1"/>
          <p:nvPr/>
        </p:nvSpPr>
        <p:spPr>
          <a:xfrm>
            <a:off x="3520440" y="3072384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14" name="TOC"/>
          <p:cNvSpPr txBox="1"/>
          <p:nvPr/>
        </p:nvSpPr>
        <p:spPr>
          <a:xfrm>
            <a:off x="3520440" y="3511296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渠道与获客</a:t>
            </a:r>
          </a:p>
        </p:txBody>
      </p:sp>
      <p:sp>
        <p:nvSpPr>
          <p:cNvPr id="15" name="TOCNo"/>
          <p:cNvSpPr txBox="1"/>
          <p:nvPr/>
        </p:nvSpPr>
        <p:spPr>
          <a:xfrm>
            <a:off x="3520440" y="3511296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6" name="TOC"/>
          <p:cNvSpPr txBox="1"/>
          <p:nvPr/>
        </p:nvSpPr>
        <p:spPr>
          <a:xfrm>
            <a:off x="3520440" y="3950208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8 周计划与预算</a:t>
            </a:r>
          </a:p>
        </p:txBody>
      </p:sp>
      <p:sp>
        <p:nvSpPr>
          <p:cNvPr id="17" name="TOCNo"/>
          <p:cNvSpPr txBox="1"/>
          <p:nvPr/>
        </p:nvSpPr>
        <p:spPr>
          <a:xfrm>
            <a:off x="3520440" y="3950208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8" name="TOC"/>
          <p:cNvSpPr txBox="1"/>
          <p:nvPr/>
        </p:nvSpPr>
        <p:spPr>
          <a:xfrm>
            <a:off x="3520440" y="4389120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漏斗与指标</a:t>
            </a:r>
          </a:p>
        </p:txBody>
      </p:sp>
      <p:sp>
        <p:nvSpPr>
          <p:cNvPr id="19" name="TOCNo"/>
          <p:cNvSpPr txBox="1"/>
          <p:nvPr/>
        </p:nvSpPr>
        <p:spPr>
          <a:xfrm>
            <a:off x="3520440" y="4389120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20" name="TOC"/>
          <p:cNvSpPr txBox="1"/>
          <p:nvPr/>
        </p:nvSpPr>
        <p:spPr>
          <a:xfrm>
            <a:off x="3520440" y="4828032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关键假设与敏感性</a:t>
            </a:r>
          </a:p>
        </p:txBody>
      </p:sp>
      <p:sp>
        <p:nvSpPr>
          <p:cNvPr id="21" name="TOCNo"/>
          <p:cNvSpPr txBox="1"/>
          <p:nvPr/>
        </p:nvSpPr>
        <p:spPr>
          <a:xfrm>
            <a:off x="3520440" y="4828032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22" name="TOC"/>
          <p:cNvSpPr txBox="1"/>
          <p:nvPr/>
        </p:nvSpPr>
        <p:spPr>
          <a:xfrm>
            <a:off x="3520440" y="5266944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风险与第 8 周决策</a:t>
            </a:r>
          </a:p>
        </p:txBody>
      </p:sp>
      <p:sp>
        <p:nvSpPr>
          <p:cNvPr id="23" name="TOCNo"/>
          <p:cNvSpPr txBox="1"/>
          <p:nvPr/>
        </p:nvSpPr>
        <p:spPr>
          <a:xfrm>
            <a:off x="3520440" y="5266944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24" name="TOC"/>
          <p:cNvSpPr txBox="1"/>
          <p:nvPr/>
        </p:nvSpPr>
        <p:spPr>
          <a:xfrm>
            <a:off x="3520440" y="5705856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附录</a:t>
            </a:r>
          </a:p>
        </p:txBody>
      </p:sp>
      <p:sp>
        <p:nvSpPr>
          <p:cNvPr id="25" name="TOCNo"/>
          <p:cNvSpPr txBox="1"/>
          <p:nvPr/>
        </p:nvSpPr>
        <p:spPr>
          <a:xfrm>
            <a:off x="3520440" y="5705856"/>
            <a:ext cx="509320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dirty="0">
                <a:solidFill>
                  <a:srgbClr val="BFBFBF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2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8C8C8C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dirty="0">
                <a:solidFill>
                  <a:srgbClr val="FFFFFF"/>
                </a:solidFill>
                <a:latin typeface="Calibri"/>
                <a:ea typeface="Microsoft YaHei"/>
              </a:rPr>
              <a:t>核心结论：先用 </a:t>
            </a:r>
            <a:r>
              <a:rPr lang="en-US" altLang="zh-CN" sz="1800" b="0" i="0" dirty="0">
                <a:solidFill>
                  <a:srgbClr val="FFFFFF"/>
                </a:solidFill>
                <a:latin typeface="Calibri"/>
                <a:ea typeface="Microsoft YaHei"/>
              </a:rPr>
              <a:t>8 </a:t>
            </a:r>
            <a:r>
              <a:rPr lang="zh-CN" altLang="en-US" sz="1800" b="0" i="0" dirty="0">
                <a:solidFill>
                  <a:srgbClr val="FFFFFF"/>
                </a:solidFill>
                <a:latin typeface="Calibri"/>
                <a:ea typeface="Microsoft YaHei"/>
              </a:rPr>
              <a:t>周验证多 </a:t>
            </a:r>
            <a:r>
              <a:rPr lang="en-US" altLang="zh-CN" sz="1800" b="0" i="0" dirty="0">
                <a:solidFill>
                  <a:srgbClr val="FFFFFF"/>
                </a:solidFill>
                <a:latin typeface="Calibri"/>
                <a:ea typeface="Microsoft YaHei"/>
              </a:rPr>
              <a:t>AI </a:t>
            </a:r>
            <a:r>
              <a:rPr lang="zh-CN" altLang="en-US" sz="1800" b="0" i="0" dirty="0">
                <a:solidFill>
                  <a:srgbClr val="FFFFFF"/>
                </a:solidFill>
                <a:latin typeface="Calibri"/>
                <a:ea typeface="Microsoft YaHei"/>
              </a:rPr>
              <a:t>知识工作者市场</a:t>
            </a:r>
            <a:endParaRPr lang="zh-CN" sz="1800" b="0" i="0" dirty="0">
              <a:solidFill>
                <a:srgbClr val="FFFFFF"/>
              </a:solidFill>
              <a:latin typeface="Calibri"/>
              <a:ea typeface="Microsoft YaHei"/>
            </a:endParaRPr>
          </a:p>
        </p:txBody>
      </p:sp>
      <p:sp>
        <p:nvSpPr>
          <p:cNvPr id="5" name="SumName"/>
          <p:cNvSpPr txBox="1"/>
          <p:nvPr/>
        </p:nvSpPr>
        <p:spPr>
          <a:xfrm>
            <a:off x="557784" y="1645920"/>
            <a:ext cx="1234440" cy="2397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/>
                <a:ea typeface="Microsoft YaHei"/>
              </a:rPr>
              <a:t>目标用户</a:t>
            </a:r>
            <a:endParaRPr lang="zh-CN" sz="1200" b="0" i="0" dirty="0">
              <a:solidFill>
                <a:srgbClr val="FFFFFF"/>
              </a:solidFill>
              <a:latin typeface="Calibri"/>
              <a:ea typeface="Microsoft YaHei"/>
            </a:endParaRPr>
          </a:p>
        </p:txBody>
      </p:sp>
      <p:sp>
        <p:nvSpPr>
          <p:cNvPr id="6" name="SumText"/>
          <p:cNvSpPr txBox="1"/>
          <p:nvPr/>
        </p:nvSpPr>
        <p:spPr>
          <a:xfrm>
            <a:off x="1874520" y="1645920"/>
            <a:ext cx="3886200" cy="7191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F2F2F2"/>
                </a:solidFill>
                <a:latin typeface="Calibri"/>
                <a:ea typeface="Microsoft YaHei"/>
              </a:rPr>
              <a:t>多 AI 知识工作者：每天在工作中同时用两个以上 AI、不写代码，以咨询、金融、市场、研究岗位和管理者为主；首发 Windows 管理、商业与金融岗位，</a:t>
            </a:r>
            <a:r>
              <a:rPr lang="zh-CN" altLang="en-US" sz="1100" b="1" dirty="0">
                <a:solidFill>
                  <a:srgbClr val="F2F2F2"/>
                </a:solidFill>
                <a:latin typeface="Calibri"/>
                <a:ea typeface="Microsoft YaHei"/>
              </a:rPr>
              <a:t>约 </a:t>
            </a:r>
            <a:r>
              <a:rPr lang="en-US" altLang="zh-CN" sz="1100" b="1" dirty="0">
                <a:solidFill>
                  <a:srgbClr val="F2F2F2"/>
                </a:solidFill>
                <a:latin typeface="Calibri"/>
                <a:ea typeface="Microsoft YaHei"/>
              </a:rPr>
              <a:t>160 </a:t>
            </a:r>
            <a:r>
              <a:rPr lang="zh-CN" altLang="en-US" sz="1100" b="1" dirty="0">
                <a:solidFill>
                  <a:srgbClr val="F2F2F2"/>
                </a:solidFill>
                <a:latin typeface="Calibri"/>
                <a:ea typeface="Microsoft YaHei"/>
              </a:rPr>
              <a:t>万人</a:t>
            </a:r>
            <a:r>
              <a:rPr lang="zh-CN" altLang="en-US" sz="1100" dirty="0">
                <a:solidFill>
                  <a:srgbClr val="F2F2F2"/>
                </a:solidFill>
                <a:latin typeface="Calibri"/>
                <a:ea typeface="Microsoft YaHei"/>
              </a:rPr>
              <a:t>（</a:t>
            </a:r>
            <a:r>
              <a:rPr lang="zh-CN" sz="1100" b="0" i="0" dirty="0">
                <a:solidFill>
                  <a:srgbClr val="F2F2F2"/>
                </a:solidFill>
                <a:latin typeface="Calibri"/>
                <a:ea typeface="Microsoft YaHei"/>
              </a:rPr>
              <a:t>估）。</a:t>
            </a:r>
          </a:p>
        </p:txBody>
      </p:sp>
      <p:sp>
        <p:nvSpPr>
          <p:cNvPr id="7" name="SumName"/>
          <p:cNvSpPr txBox="1"/>
          <p:nvPr/>
        </p:nvSpPr>
        <p:spPr>
          <a:xfrm>
            <a:off x="557784" y="2563406"/>
            <a:ext cx="1234440" cy="2397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1" i="0" dirty="0">
                <a:solidFill>
                  <a:srgbClr val="FFFFFF"/>
                </a:solidFill>
                <a:latin typeface="Calibri"/>
                <a:ea typeface="Microsoft YaHei"/>
              </a:rPr>
              <a:t>产品定位</a:t>
            </a:r>
            <a:endParaRPr lang="zh-CN" sz="1200" b="0" i="0" dirty="0">
              <a:solidFill>
                <a:srgbClr val="FFFFFF"/>
              </a:solidFill>
              <a:latin typeface="Calibri"/>
              <a:ea typeface="Microsoft YaHei"/>
            </a:endParaRPr>
          </a:p>
        </p:txBody>
      </p:sp>
      <p:sp>
        <p:nvSpPr>
          <p:cNvPr id="8" name="SumText"/>
          <p:cNvSpPr txBox="1"/>
          <p:nvPr/>
        </p:nvSpPr>
        <p:spPr>
          <a:xfrm>
            <a:off x="1874520" y="2563406"/>
            <a:ext cx="3886200" cy="7191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F2F2F2"/>
                </a:solidFill>
                <a:latin typeface="Calibri"/>
                <a:ea typeface="Microsoft YaHei"/>
              </a:rPr>
              <a:t>面向知识工作者的受控记忆：一份记忆，所有 AI 共用；只有你批准才会记住；存在你的电脑上，每个 AI 只能看到你允许的工作空间。</a:t>
            </a:r>
          </a:p>
        </p:txBody>
      </p:sp>
      <p:sp>
        <p:nvSpPr>
          <p:cNvPr id="9" name="SumName"/>
          <p:cNvSpPr txBox="1"/>
          <p:nvPr/>
        </p:nvSpPr>
        <p:spPr>
          <a:xfrm>
            <a:off x="557784" y="3480892"/>
            <a:ext cx="1234440" cy="2397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1" i="0" dirty="0">
                <a:solidFill>
                  <a:srgbClr val="FFFFFF"/>
                </a:solidFill>
                <a:latin typeface="Calibri"/>
                <a:ea typeface="Microsoft YaHei"/>
              </a:rPr>
              <a:t>商业模式</a:t>
            </a:r>
            <a:endParaRPr lang="zh-CN" sz="1200" b="0" i="0" dirty="0">
              <a:solidFill>
                <a:srgbClr val="FFFFFF"/>
              </a:solidFill>
              <a:latin typeface="Calibri"/>
              <a:ea typeface="Microsoft YaHei"/>
            </a:endParaRPr>
          </a:p>
        </p:txBody>
      </p:sp>
      <p:sp>
        <p:nvSpPr>
          <p:cNvPr id="10" name="SumText"/>
          <p:cNvSpPr txBox="1"/>
          <p:nvPr/>
        </p:nvSpPr>
        <p:spPr>
          <a:xfrm>
            <a:off x="1874520" y="3480892"/>
            <a:ext cx="3886200" cy="7191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F2F2F2"/>
                </a:solidFill>
                <a:latin typeface="Calibri"/>
                <a:ea typeface="Microsoft YaHei"/>
              </a:rPr>
              <a:t>本地核心免费，按工作空间收费：Free 含 2 个工作空间，Pro 不限工作空间，$8/月或 $72/年。个人版建滩头，规模收入靠之后的 Team 版。</a:t>
            </a:r>
          </a:p>
        </p:txBody>
      </p:sp>
      <p:sp>
        <p:nvSpPr>
          <p:cNvPr id="11" name="SumName"/>
          <p:cNvSpPr txBox="1"/>
          <p:nvPr/>
        </p:nvSpPr>
        <p:spPr>
          <a:xfrm>
            <a:off x="557784" y="4398378"/>
            <a:ext cx="1234440" cy="2397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FFFFFF"/>
                </a:solidFill>
                <a:latin typeface="Calibri"/>
                <a:ea typeface="Microsoft YaHei"/>
              </a:rPr>
              <a:t>GTM </a:t>
            </a:r>
            <a:r>
              <a:rPr lang="zh-CN" altLang="en-US" sz="1200" b="1" dirty="0">
                <a:solidFill>
                  <a:srgbClr val="FFFFFF"/>
                </a:solidFill>
                <a:latin typeface="Calibri"/>
                <a:ea typeface="Microsoft YaHei"/>
              </a:rPr>
              <a:t>策略</a:t>
            </a:r>
            <a:endParaRPr lang="zh-CN" sz="1200" b="0" i="0" dirty="0">
              <a:solidFill>
                <a:srgbClr val="FFFFFF"/>
              </a:solidFill>
              <a:latin typeface="Calibri"/>
              <a:ea typeface="Microsoft YaHei"/>
            </a:endParaRPr>
          </a:p>
        </p:txBody>
      </p:sp>
      <p:sp>
        <p:nvSpPr>
          <p:cNvPr id="12" name="SumText"/>
          <p:cNvSpPr txBox="1"/>
          <p:nvPr/>
        </p:nvSpPr>
        <p:spPr>
          <a:xfrm>
            <a:off x="1874520" y="4398378"/>
            <a:ext cx="3886200" cy="7191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F2F2F2"/>
                </a:solidFill>
                <a:latin typeface="Calibri"/>
                <a:ea typeface="Microsoft YaHei"/>
              </a:rPr>
              <a:t>8 周、4 个两周冲刺、$15,000：先访谈和私测，第 4 周 Product Hunt 首发；主渠道是 LinkedIn、YouTube 自然内容加创作者合作，不投点击广告获客。</a:t>
            </a:r>
          </a:p>
        </p:txBody>
      </p:sp>
      <p:sp>
        <p:nvSpPr>
          <p:cNvPr id="13" name="SumName"/>
          <p:cNvSpPr txBox="1"/>
          <p:nvPr/>
        </p:nvSpPr>
        <p:spPr>
          <a:xfrm>
            <a:off x="557784" y="5315864"/>
            <a:ext cx="1234440" cy="2397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/>
                <a:ea typeface="Microsoft YaHei"/>
              </a:rPr>
              <a:t>验证目标</a:t>
            </a:r>
            <a:endParaRPr lang="zh-CN" sz="1200" b="0" i="0" dirty="0">
              <a:solidFill>
                <a:srgbClr val="FFFFFF"/>
              </a:solidFill>
              <a:latin typeface="Calibri"/>
              <a:ea typeface="Microsoft YaHei"/>
            </a:endParaRPr>
          </a:p>
        </p:txBody>
      </p:sp>
      <p:sp>
        <p:nvSpPr>
          <p:cNvPr id="14" name="SumText"/>
          <p:cNvSpPr txBox="1"/>
          <p:nvPr/>
        </p:nvSpPr>
        <p:spPr>
          <a:xfrm>
            <a:off x="1874520" y="5315864"/>
            <a:ext cx="3886200" cy="7191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F2F2F2"/>
                </a:solidFill>
                <a:latin typeface="Calibri"/>
                <a:ea typeface="Microsoft YaHei"/>
              </a:rPr>
              <a:t>最大风险是平台免费内置记忆。第 8 周看已开启平台记忆的用户是否仍跨 AI 使用 OMNA，过关线为激活率 30%、D30 留存 30%、跨 AI 周活 35 人。</a:t>
            </a:r>
          </a:p>
        </p:txBody>
      </p:sp>
      <p:sp>
        <p:nvSpPr>
          <p:cNvPr id="15" name="SCQA"/>
          <p:cNvSpPr txBox="1"/>
          <p:nvPr/>
        </p:nvSpPr>
        <p:spPr>
          <a:xfrm>
            <a:off x="6263640" y="1645920"/>
            <a:ext cx="5367528" cy="41401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FFFFFF"/>
                </a:solidFill>
                <a:latin typeface="Calibri"/>
                <a:ea typeface="Microsoft YaHei"/>
              </a:rPr>
              <a:t>背景</a:t>
            </a:r>
            <a:endParaRPr lang="zh-CN" sz="1100" b="0" i="0" dirty="0">
              <a:solidFill>
                <a:srgbClr val="FFFFFF"/>
              </a:solidFill>
              <a:latin typeface="Calibri"/>
              <a:ea typeface="Microsoft YaHei"/>
            </a:endParaRPr>
          </a:p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F2F2F2"/>
                </a:solidFill>
                <a:latin typeface="Calibri"/>
                <a:ea typeface="Microsoft YaHei"/>
              </a:rPr>
              <a:t>64% 的美国成年人使用 AI，AI 用户平均同时使用 3.0 个通用助手，一年前是 2.2 个。MCP 已成为 AI 工具之间共享数据的事实标准，OpenAI、Google、Microsoft 都已支持。</a:t>
            </a:r>
          </a:p>
          <a:p>
            <a:pPr algn="l">
              <a:lnSpc>
                <a:spcPts val="1960"/>
              </a:lnSpc>
              <a:spcBef>
                <a:spcPts val="2372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FFFFFF"/>
                </a:solidFill>
                <a:latin typeface="Calibri"/>
                <a:ea typeface="Microsoft YaHei"/>
              </a:rPr>
              <a:t>冲突</a:t>
            </a:r>
            <a:endParaRPr lang="zh-CN" sz="1100" b="0" i="0" dirty="0">
              <a:solidFill>
                <a:srgbClr val="FFFFFF"/>
              </a:solidFill>
              <a:latin typeface="Calibri"/>
              <a:ea typeface="Microsoft YaHei"/>
            </a:endParaRPr>
          </a:p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F2F2F2"/>
                </a:solidFill>
                <a:latin typeface="Calibri"/>
                <a:ea typeface="Microsoft YaHei"/>
              </a:rPr>
              <a:t>平台记忆只在自家产品里有效，用户最多的 ChatGPT 不提供记忆导出；第三方跨工具产品全部存在云端，也大多在后台自动写入。工具越多，用户越要反复向 AI 介绍自己。</a:t>
            </a:r>
          </a:p>
          <a:p>
            <a:pPr algn="l">
              <a:lnSpc>
                <a:spcPts val="1960"/>
              </a:lnSpc>
              <a:spcBef>
                <a:spcPts val="2372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FFFFFF"/>
                </a:solidFill>
                <a:latin typeface="Calibri"/>
                <a:ea typeface="Microsoft YaHei"/>
              </a:rPr>
              <a:t>问题</a:t>
            </a:r>
            <a:endParaRPr lang="zh-CN" sz="1100" b="0" i="0" dirty="0">
              <a:solidFill>
                <a:srgbClr val="FFFFFF"/>
              </a:solidFill>
              <a:latin typeface="Calibri"/>
              <a:ea typeface="Microsoft YaHei"/>
            </a:endParaRPr>
          </a:p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F2F2F2"/>
                </a:solidFill>
                <a:latin typeface="Calibri"/>
                <a:ea typeface="Microsoft YaHei"/>
              </a:rPr>
              <a:t>OMNA 是一款 Windows 本地个人记忆工具，通过 MCP 让多个 AI 共用一份由用户批准的记忆。它该卖给谁、怎样定位和定价、第一批用户从哪里来、怎样判断 GTM 有效？</a:t>
            </a:r>
          </a:p>
          <a:p>
            <a:pPr algn="l">
              <a:lnSpc>
                <a:spcPts val="1960"/>
              </a:lnSpc>
              <a:spcBef>
                <a:spcPts val="2372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FFFFFF"/>
                </a:solidFill>
                <a:latin typeface="Calibri"/>
                <a:ea typeface="Microsoft YaHei"/>
              </a:rPr>
              <a:t>答案</a:t>
            </a:r>
            <a:endParaRPr lang="zh-CN" sz="1100" b="0" i="0" dirty="0">
              <a:solidFill>
                <a:srgbClr val="FFFFFF"/>
              </a:solidFill>
              <a:latin typeface="Calibri"/>
              <a:ea typeface="Microsoft YaHei"/>
            </a:endParaRPr>
          </a:p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F2F2F2"/>
                </a:solidFill>
                <a:latin typeface="Calibri"/>
                <a:ea typeface="Microsoft YaHei"/>
              </a:rPr>
              <a:t>先做透多 AI 知识工作者这个小而深的市场（SAM 约 210 万，估），以“跨工具 + 本地存储 + 用户把关”定位，按工作空间收费；用 8 周和 $15,000 验证激活与留存，再决定是否扩大投入。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注：带“估”的数字为本报告中档估算，口径见附录 A1；“跨 AI 周活”指当周至少有两个 AI 读取过 OMNA 记忆的用户数。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来源：本报告第二至六章；Menlo Ventures, 2026: The State of Consumer AI；npm（@modelcontextprotocol/sdk）；Data Transfer Initiative 2026。</a:t>
            </a:r>
          </a:p>
        </p:txBody>
      </p:sp>
      <p:sp>
        <p:nvSpPr>
          <p:cNvPr id="17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8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AF0C3C0-79BA-1B98-5E15-73546E8F896C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02 市场分析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dirty="0">
                <a:solidFill>
                  <a:srgbClr val="000000"/>
                </a:solidFill>
                <a:latin typeface="Calibri"/>
                <a:ea typeface="Microsoft YaHei"/>
              </a:rPr>
              <a:t>多 </a:t>
            </a:r>
            <a:r>
              <a:rPr lang="en-US" alt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AI </a:t>
            </a:r>
            <a:r>
              <a:rPr lang="zh-CN" altLang="en-US" sz="1800" b="0" i="0" dirty="0">
                <a:solidFill>
                  <a:srgbClr val="000000"/>
                </a:solidFill>
                <a:latin typeface="Calibri"/>
                <a:ea typeface="Microsoft YaHei"/>
              </a:rPr>
              <a:t>使用普及，跨工具记忆具备落地条件</a:t>
            </a:r>
            <a:endParaRPr lang="zh-CN" sz="18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来源：Menlo Ventures, State of Consumer AI 2025、2026（n=5,067）；npm 官方下载统计（@modelcontextprotocol/sdk，2026-10-03 获取，不含 Python SDK）；Data Transfer Initiative 2026；a16z, Top 100 Gen AI Consumer Apps（2026-03）；Linux Foundation（2025-12）。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7" name="Group 1"/>
          <p:cNvSpPr txBox="1"/>
          <p:nvPr/>
        </p:nvSpPr>
        <p:spPr>
          <a:xfrm>
            <a:off x="557784" y="1645920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AI 已经日用，而且有人付钱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使用 AI 的美国成年人一年只增加 3 个百分点，增长来自更深的使用。55% 的美国 AI 用户至少为一个 AI 产品付费，典型支出每月 $20–49；每月花 $100 以上的重度用户只占付费者的 14%，却贡献约 60% 的支出。OMNA 不需要教育用户使用 AI，只需要让他们用得更省事。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" y="3012643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9" name="Group 2"/>
          <p:cNvSpPr txBox="1"/>
          <p:nvPr/>
        </p:nvSpPr>
        <p:spPr>
          <a:xfrm>
            <a:off x="557784" y="3158947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MCP 让跨工具共享有了标准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MCP TypeScript SDK 的月下载量从 2025 年 4 月的 420 万增至 2026 年 9 月的 2.19 亿，18 个月增长</a:t>
            </a:r>
            <a:r>
              <a:rPr lang="zh-CN" sz="1100" b="1" i="0" dirty="0">
                <a:latin typeface="Calibri"/>
                <a:ea typeface="Microsoft YaHei"/>
              </a:rPr>
              <a:t>约 52 倍</a:t>
            </a: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。OpenAI、Google、Microsoft 都已支持，协议也已捐给 Linux 基金会，由中立机构维护。记忆第一次有了在不同 AI 之间共享的标准接口，OMNA 只需押注这一种接入方式。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" y="4525670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1" name="Group 3"/>
          <p:cNvSpPr txBox="1"/>
          <p:nvPr/>
        </p:nvSpPr>
        <p:spPr>
          <a:xfrm>
            <a:off x="557784" y="4671974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平台承认记忆该迁移，但只做单向导入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2026 年 3 月，Claude 和 Gemini 先后推出从其他助手导入记忆的工具，平台开始承认记忆应该可以迁移；但导入是单向、一次性的，导完之后各自独立，ChatGPT 至今不提供导出。ChatGPT 网页端的周活跃用户中有 20% 同周也在用 Gemini，平台之间的记忆只能交给中立的第三方。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1645920"/>
            <a:ext cx="5093208" cy="0"/>
          </a:xfrm>
          <a:prstGeom prst="line">
            <a:avLst/>
          </a:prstGeom>
          <a:ln w="6350">
            <a:solidFill>
              <a:srgbClr val="0072BC"/>
            </a:solidFill>
          </a:ln>
        </p:spPr>
      </p:cxnSp>
      <p:sp>
        <p:nvSpPr>
          <p:cNvPr id="13" name="ChartTitle"/>
          <p:cNvSpPr txBox="1"/>
          <p:nvPr/>
        </p:nvSpPr>
        <p:spPr>
          <a:xfrm>
            <a:off x="6537960" y="1719072"/>
            <a:ext cx="5093208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MCP TypeScript SDK 月下载量，百万次（2025-04 至 2026-09）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graphicFrame>
        <p:nvGraphicFramePr>
          <p:cNvPr id="14" name="Chart MCP download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460705"/>
              </p:ext>
            </p:extLst>
          </p:nvPr>
        </p:nvGraphicFramePr>
        <p:xfrm>
          <a:off x="6537960" y="1958340"/>
          <a:ext cx="5093208" cy="2796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Note"/>
          <p:cNvSpPr txBox="1"/>
          <p:nvPr/>
        </p:nvSpPr>
        <p:spPr>
          <a:xfrm>
            <a:off x="9758172" y="2171058"/>
            <a:ext cx="1280160" cy="1508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18 个月约 52 倍</a:t>
            </a:r>
          </a:p>
        </p:txBody>
      </p:sp>
      <p:sp>
        <p:nvSpPr>
          <p:cNvPr id="16" name="Number"/>
          <p:cNvSpPr txBox="1"/>
          <p:nvPr/>
        </p:nvSpPr>
        <p:spPr>
          <a:xfrm>
            <a:off x="6537960" y="5143043"/>
            <a:ext cx="158800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dirty="0">
                <a:solidFill>
                  <a:srgbClr val="000000"/>
                </a:solidFill>
                <a:latin typeface="Calibri"/>
                <a:ea typeface="Microsoft YaHei"/>
              </a:rPr>
              <a:t>64%</a:t>
            </a:r>
          </a:p>
        </p:txBody>
      </p:sp>
      <p:sp>
        <p:nvSpPr>
          <p:cNvPr id="17" name="NumberNote"/>
          <p:cNvSpPr txBox="1"/>
          <p:nvPr/>
        </p:nvSpPr>
        <p:spPr>
          <a:xfrm>
            <a:off x="6537960" y="5545379"/>
            <a:ext cx="1127044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使用 AI 的美国成年人（一年前 61%）</a:t>
            </a:r>
          </a:p>
        </p:txBody>
      </p:sp>
      <p:sp>
        <p:nvSpPr>
          <p:cNvPr id="18" name="Number"/>
          <p:cNvSpPr txBox="1"/>
          <p:nvPr/>
        </p:nvSpPr>
        <p:spPr>
          <a:xfrm>
            <a:off x="8235696" y="5143043"/>
            <a:ext cx="158800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dirty="0">
                <a:solidFill>
                  <a:srgbClr val="000000"/>
                </a:solidFill>
                <a:latin typeface="Calibri"/>
                <a:ea typeface="Microsoft YaHei"/>
              </a:rPr>
              <a:t>25%</a:t>
            </a:r>
          </a:p>
        </p:txBody>
      </p:sp>
      <p:sp>
        <p:nvSpPr>
          <p:cNvPr id="19" name="NumberNote"/>
          <p:cNvSpPr txBox="1"/>
          <p:nvPr/>
        </p:nvSpPr>
        <p:spPr>
          <a:xfrm>
            <a:off x="8235696" y="5545379"/>
            <a:ext cx="1368572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每天使用 AI 的美国成年人（一年前 19%）</a:t>
            </a:r>
          </a:p>
        </p:txBody>
      </p:sp>
      <p:sp>
        <p:nvSpPr>
          <p:cNvPr id="20" name="Number"/>
          <p:cNvSpPr txBox="1"/>
          <p:nvPr/>
        </p:nvSpPr>
        <p:spPr>
          <a:xfrm>
            <a:off x="9933432" y="5143043"/>
            <a:ext cx="158800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dirty="0">
                <a:solidFill>
                  <a:srgbClr val="000000"/>
                </a:solidFill>
                <a:latin typeface="Calibri"/>
                <a:ea typeface="Microsoft YaHei"/>
              </a:rPr>
              <a:t>3.0 个</a:t>
            </a:r>
          </a:p>
        </p:txBody>
      </p:sp>
      <p:sp>
        <p:nvSpPr>
          <p:cNvPr id="21" name="NumberNote"/>
          <p:cNvSpPr txBox="1"/>
          <p:nvPr/>
        </p:nvSpPr>
        <p:spPr>
          <a:xfrm>
            <a:off x="9933432" y="5545379"/>
            <a:ext cx="1231392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每位 AI 用户同时使用的通用助手（一年前 2.2 个）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CDCDA3B-FB5D-4245-253E-2E39805C9F04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02 市场分析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dirty="0">
                <a:solidFill>
                  <a:srgbClr val="000000"/>
                </a:solidFill>
                <a:latin typeface="Calibri"/>
                <a:ea typeface="Microsoft YaHei"/>
              </a:rPr>
              <a:t>兼顾跨工具、本地存储与用户批准的产品仍是市场空白</a:t>
            </a:r>
            <a:endParaRPr lang="zh-CN" sz="18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注：定位图为本报告评分（1–5 分），评分标准见第二章表 2-4；12 款产品的完整对比见附录 A3。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来源：各产品官网与官方文档，价格于 2026-10-03 获取；Data Transfer Initiative, The shifting locus of AI portability（2026-09）。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7" name="Group 1"/>
          <p:cNvSpPr txBox="1"/>
          <p:nvPr/>
        </p:nvSpPr>
        <p:spPr>
          <a:xfrm>
            <a:off x="557784" y="1645920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平台记忆：免费，但只在自家有效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ChatGPT、Claude 的记忆免费、开箱即用，ChatGPT 记忆 2025 年起也向免费用户开放，但只在自己的产品里有效，而且大多在后台自动写入，用户看不到。用户最多的 ChatGPT 至今不提供记忆导出：平台出于自身商业利益，不会去做跨家的那一部分，这正是第三方的空间。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" y="3012643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9" name="Group 2"/>
          <p:cNvSpPr txBox="1"/>
          <p:nvPr/>
        </p:nvSpPr>
        <p:spPr>
          <a:xfrm>
            <a:off x="557784" y="3158947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第三方插件：跨工具，但全在云端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MemoryPlugin、AI Context Flow、MemoryBase 解决了跨工具的问题，年付折合每月 </a:t>
            </a:r>
            <a:r>
              <a:rPr lang="zh-CN" sz="1100" b="1" i="0" dirty="0">
                <a:solidFill>
                  <a:srgbClr val="0072BC"/>
                </a:solidFill>
                <a:latin typeface="Calibri"/>
                <a:ea typeface="Microsoft YaHei"/>
              </a:rPr>
              <a:t>$7.4–9</a:t>
            </a: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，但都把数据存在云端，也大多在后台自动记忆。面向开发者的 Mem0、Supermemory 按 API 收费。没有一家竞品提供本地存储的付费方案，“本地存储 + 用户批准”的位置空着。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" y="4525670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1" name="Group 3"/>
          <p:cNvSpPr txBox="1"/>
          <p:nvPr/>
        </p:nvSpPr>
        <p:spPr>
          <a:xfrm>
            <a:off x="557784" y="4671974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OMNA 占住空位，但最难上手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定位图右上角（任何 AI 都能用、每条记忆由用户批准）只有 OMNA，这是它最清晰的差异化。但换成自动化和上手难度看，它落在最不利的区域：要逐条批准，还要自己配置 MCP，平台记忆却开箱即用。差异化要变成增长，先补三块短板：一键安装、一键导入和自动读取。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1645920"/>
            <a:ext cx="5093208" cy="0"/>
          </a:xfrm>
          <a:prstGeom prst="line">
            <a:avLst/>
          </a:prstGeom>
          <a:ln w="6350">
            <a:solidFill>
              <a:srgbClr val="0072BC"/>
            </a:solidFill>
          </a:ln>
        </p:spPr>
      </p:cxnSp>
      <p:sp>
        <p:nvSpPr>
          <p:cNvPr id="13" name="ChartTitle"/>
          <p:cNvSpPr txBox="1"/>
          <p:nvPr/>
        </p:nvSpPr>
        <p:spPr>
          <a:xfrm>
            <a:off x="6537960" y="1719072"/>
            <a:ext cx="5093208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定位图：跨工具程度 × 用户把关程度，1–5 分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graphicFrame>
        <p:nvGraphicFramePr>
          <p:cNvPr id="14" name="Chart positioning ma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474924"/>
              </p:ext>
            </p:extLst>
          </p:nvPr>
        </p:nvGraphicFramePr>
        <p:xfrm>
          <a:off x="6537960" y="1958340"/>
          <a:ext cx="5093208" cy="2430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Note"/>
          <p:cNvSpPr txBox="1"/>
          <p:nvPr/>
        </p:nvSpPr>
        <p:spPr>
          <a:xfrm>
            <a:off x="9345168" y="2022348"/>
            <a:ext cx="1371600" cy="1508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跨工具 + 用户把关</a:t>
            </a:r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464146"/>
              </p:ext>
            </p:extLst>
          </p:nvPr>
        </p:nvGraphicFramePr>
        <p:xfrm>
          <a:off x="6537960" y="4617720"/>
          <a:ext cx="5093208" cy="1274675"/>
        </p:xfrm>
        <a:graphic>
          <a:graphicData uri="http://schemas.openxmlformats.org/drawingml/2006/table">
            <a:tbl>
              <a:tblPr/>
              <a:tblGrid>
                <a:gridCol w="1115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935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产品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跨工具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数据位置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写入是否需用户批准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935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ChatGPT 记忆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否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OpenAI 云端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否，自动保存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935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MemoryPlugin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是（21+ 工具）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云端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否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935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AI Context Flow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是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云端（加密）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部分，按 AI 授权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935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OMNA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是（6 个客户端）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本地，离线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是，AI 只能提议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0B3C390-E545-014B-50DD-CD24E559B793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02 市场分析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dirty="0">
                <a:solidFill>
                  <a:srgbClr val="000000"/>
                </a:solidFill>
                <a:latin typeface="Calibri"/>
                <a:ea typeface="Microsoft YaHei"/>
              </a:rPr>
              <a:t>用户需求痛点：少重复、能控制、真能用</a:t>
            </a:r>
            <a:endParaRPr lang="zh-CN" sz="18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注：按“有多少个讨论源提到”计数，避免单个热帖放大结论；样本以开发者为主，只用于判断方向，知识工作者的痛点由冲刺 1 的 12–15 次访谈验证。“跨设备接续”不在本阶段范围（OMNA 不做跨设备同步）。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来源：Hacker News、DEV Community、Product Hunt 公开讨论（2025-09 至 2026-09），共 8 个讨论源、24 条原话。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7" name="Group 1"/>
          <p:cNvSpPr txBox="1"/>
          <p:nvPr/>
        </p:nvSpPr>
        <p:spPr>
          <a:xfrm>
            <a:off x="557784" y="1645920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重复解释是第一痛点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8 个讨论源中有 5 个提到：每换一个工具，就要重新交代自己是谁、在做什么。一位用户的说法很典型：“用多个 AI 工具，最后会多出一份工作：在它们之间管理上下文。”知识工作者的应对办法，是常备一段“自我介绍”，每换一个 AI 就粘贴一次，既费事又容易过时。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" y="3082595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9" name="Group 2"/>
          <p:cNvSpPr txBox="1"/>
          <p:nvPr/>
        </p:nvSpPr>
        <p:spPr>
          <a:xfrm>
            <a:off x="557784" y="3298850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用户关掉平台记忆，是因为它不受控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记忆在后台自动生成，会把不相关的事情联系在一起，甚至记住 AI 自己的幻觉，用户于是干脆把它关掉。用户要的不是更多记忆，而是先看到、再决定是否保存，并且知道每条记忆来自哪里、是新是旧。这正对应 OMNA 的“AI 提议、用户批准、记录来源”三项设计。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" y="4735525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1" name="Group 3"/>
          <p:cNvSpPr txBox="1"/>
          <p:nvPr/>
        </p:nvSpPr>
        <p:spPr>
          <a:xfrm>
            <a:off x="557784" y="4951781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装上了，AI 也未必去读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多位开发者发现，接入记忆工具后 AI 也很少主动读取，必须明确叫它“记住”；手写的 CLAUDE.md / AGENTS.md 反而被认为更可靠，已</a:t>
            </a:r>
            <a:r>
              <a:rPr lang="zh-CN" altLang="en-US" sz="1100" dirty="0">
                <a:solidFill>
                  <a:srgbClr val="6E6E6E"/>
                </a:solidFill>
                <a:latin typeface="Calibri"/>
                <a:ea typeface="Microsoft YaHei"/>
              </a:rPr>
              <a:t>被 </a:t>
            </a:r>
            <a:r>
              <a:rPr lang="en-US" altLang="zh-CN" sz="1100" dirty="0">
                <a:solidFill>
                  <a:srgbClr val="6E6E6E"/>
                </a:solidFill>
                <a:latin typeface="Calibri"/>
                <a:ea typeface="Microsoft YaHei"/>
              </a:rPr>
              <a:t>6 </a:t>
            </a:r>
            <a:r>
              <a:rPr lang="zh-CN" altLang="en-US" sz="1100" dirty="0">
                <a:solidFill>
                  <a:srgbClr val="6E6E6E"/>
                </a:solidFill>
                <a:latin typeface="Calibri"/>
                <a:ea typeface="Microsoft YaHei"/>
              </a:rPr>
              <a:t>万多个项</a:t>
            </a: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目采用。OMNA 必须在会话开始时自动带上记忆，并且接管而不是替代这些已有的上下文，否则用户装了也用不起来。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1645920"/>
            <a:ext cx="5093208" cy="0"/>
          </a:xfrm>
          <a:prstGeom prst="line">
            <a:avLst/>
          </a:prstGeom>
          <a:ln w="6350">
            <a:solidFill>
              <a:srgbClr val="0072BC"/>
            </a:solidFill>
          </a:ln>
        </p:spPr>
      </p:cxnSp>
      <p:sp>
        <p:nvSpPr>
          <p:cNvPr id="13" name="ChartTitle"/>
          <p:cNvSpPr txBox="1"/>
          <p:nvPr/>
        </p:nvSpPr>
        <p:spPr>
          <a:xfrm>
            <a:off x="6537960" y="1719072"/>
            <a:ext cx="5093208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用户痛点排序：提到该痛点的讨论源数，个（共 8 个讨论源、24 条原话）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graphicFrame>
        <p:nvGraphicFramePr>
          <p:cNvPr id="14" name="Chart pain poi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806952"/>
              </p:ext>
            </p:extLst>
          </p:nvPr>
        </p:nvGraphicFramePr>
        <p:xfrm>
          <a:off x="6537960" y="1958340"/>
          <a:ext cx="5093208" cy="2282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Table quotes"/>
          <p:cNvGraphicFramePr>
            <a:graphicFrameLocks noGrp="1"/>
          </p:cNvGraphicFramePr>
          <p:nvPr/>
        </p:nvGraphicFramePr>
        <p:xfrm>
          <a:off x="6537960" y="4441698"/>
          <a:ext cx="5093208" cy="1730502"/>
        </p:xfrm>
        <a:graphic>
          <a:graphicData uri="http://schemas.openxmlformats.org/drawingml/2006/table">
            <a:tbl>
              <a:tblPr/>
              <a:tblGrid>
                <a:gridCol w="230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598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用户原话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中文大意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来源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lnSpc>
                          <a:spcPts val="124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b="0" i="1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“using 3+ tools daily … is back to fragmented memory within a week”</a:t>
                      </a:r>
                      <a:endParaRPr lang="zh-CN" sz="9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每天用三个以上工具，一周之内记忆又碎片化了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Hacker News，2026-03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642">
                <a:tc>
                  <a:txBody>
                    <a:bodyPr/>
                    <a:lstStyle/>
                    <a:p>
                      <a:pPr algn="l">
                        <a:lnSpc>
                          <a:spcPts val="124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b="0" i="1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“I am not a big fan of the conversation memory created in background that I have no control over.”</a:t>
                      </a:r>
                      <a:endParaRPr lang="zh-CN" sz="9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不喜欢在后台生成、自己控制不了的记忆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Hacker News，2025-09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642">
                <a:tc>
                  <a:txBody>
                    <a:bodyPr/>
                    <a:lstStyle/>
                    <a:p>
                      <a:pPr algn="l">
                        <a:lnSpc>
                          <a:spcPts val="124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b="0" i="1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“you need to tell … Claude to 'Store' or 'Remember', if you don't it will never call the MCP server.”</a:t>
                      </a:r>
                      <a:endParaRPr lang="zh-CN" sz="9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必须明确让 Claude“记住”，否则它从不调用记忆工具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Hacker News，2025-10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FF2CCF4-5AF9-A901-AB5B-2BADCB18C354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03 策略制定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首发</a:t>
            </a:r>
            <a:r>
              <a:rPr lang="zh-CN" altLang="en-US" dirty="0">
                <a:solidFill>
                  <a:srgbClr val="000000"/>
                </a:solidFill>
                <a:latin typeface="Calibri"/>
                <a:ea typeface="Microsoft YaHei"/>
              </a:rPr>
              <a:t>聚焦</a:t>
            </a: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多 AI 知识工作者：首要职业约 2,170 万人，是开发者</a:t>
            </a:r>
            <a:r>
              <a:rPr lang="zh-CN" altLang="en-US" dirty="0">
                <a:solidFill>
                  <a:srgbClr val="000000"/>
                </a:solidFill>
                <a:latin typeface="Calibri"/>
                <a:ea typeface="Microsoft YaHei"/>
              </a:rPr>
              <a:t>的 </a:t>
            </a:r>
            <a:r>
              <a:rPr lang="en-US" altLang="zh-CN" dirty="0">
                <a:solidFill>
                  <a:srgbClr val="000000"/>
                </a:solidFill>
                <a:latin typeface="Calibri"/>
                <a:ea typeface="Microsoft YaHei"/>
              </a:rPr>
              <a:t>4 </a:t>
            </a:r>
            <a:r>
              <a:rPr lang="zh-CN" altLang="en-US" dirty="0">
                <a:solidFill>
                  <a:srgbClr val="000000"/>
                </a:solidFill>
                <a:latin typeface="Calibri"/>
                <a:ea typeface="Microsoft YaHei"/>
              </a:rPr>
              <a:t>倍</a:t>
            </a: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注：TAM、SAM、首要 ICP 为本报告中档估算，“日用户中多工具比例 60%”为假设，计算见附录 A1；Gallup 按行业统计、BLS 按职业统计，二者只能近似对应。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来源：US BLS, Occupational Employment and Wages（2025-05）；Gallup, AI in the Workplace Q4 2025（n=22,368）；Menlo Ventures 2026（n=5,067）；StatCounter（2026-09）。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7" name="Group 1"/>
          <p:cNvSpPr txBox="1"/>
          <p:nvPr/>
        </p:nvSpPr>
        <p:spPr>
          <a:xfrm>
            <a:off x="557784" y="1645920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latin typeface="Calibri"/>
                <a:ea typeface="Microsoft YaHei"/>
              </a:rPr>
              <a:t>目标人群规模更大</a:t>
            </a:r>
            <a:endParaRPr lang="en-US" altLang="zh-CN" sz="1200" b="1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管理类（1,113 万人）和商业与金融类（1,054 万人）是美国最大的两类白领职业，合计约 2,170 万人，是计算机与数学类（526 万人，以开发者为主）的 4 倍。法律、科研、工程、艺术设计与媒体合计 744 万人，用职业模板覆盖；医疗、教育合规门槛高，暂不进入。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" y="3012643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9" name="Group 2"/>
          <p:cNvSpPr txBox="1"/>
          <p:nvPr/>
        </p:nvSpPr>
        <p:spPr>
          <a:xfrm>
            <a:off x="557784" y="3158947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AI </a:t>
            </a:r>
            <a:r>
              <a:rPr lang="zh-CN" altLang="en-US" sz="1200" b="1" i="0" dirty="0">
                <a:solidFill>
                  <a:srgbClr val="000000"/>
                </a:solidFill>
                <a:latin typeface="Calibri"/>
                <a:ea typeface="Microsoft YaHei"/>
              </a:rPr>
              <a:t>使用和付费更积极</a:t>
            </a:r>
            <a:endParaRPr lang="en-US" altLang="zh-CN" sz="1200" b="1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在工作中用过 AI 的员工比例，金融为 64%，专业服务为 62%，仅次于科技（77%）；每周多次在工作中用 AI 的员工，从 2023 年的 11% 升到 26%。他们也愿意付费：55% 的美国 AI 用户为 AI 付费，自费者每月花 $55，有报销的花 $95，可以按个人产品销售，不必等企业采购。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" y="4525670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1" name="Group 3"/>
          <p:cNvSpPr txBox="1"/>
          <p:nvPr/>
        </p:nvSpPr>
        <p:spPr>
          <a:xfrm>
            <a:off x="557784" y="4671974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没有现成替代，也不会配置 MCP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开发者已有 CLAUDE.md、Claude Code 自带记忆等替代方案；知识工作者只能反复粘贴自我介绍，又经常处理客户信息，最需要记忆可控、能按客户隔离。但他们不会配置 MCP，所以首发必须一键安装、导入已有记忆、提供职业模板、按工作空间隔离，并在会话开始时自动带上记忆。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1645920"/>
            <a:ext cx="5093208" cy="0"/>
          </a:xfrm>
          <a:prstGeom prst="line">
            <a:avLst/>
          </a:prstGeom>
          <a:ln w="6350">
            <a:solidFill>
              <a:srgbClr val="0072BC"/>
            </a:solidFill>
          </a:ln>
        </p:spPr>
      </p:cxnSp>
      <p:sp>
        <p:nvSpPr>
          <p:cNvPr id="13" name="ChartTitle"/>
          <p:cNvSpPr txBox="1"/>
          <p:nvPr/>
        </p:nvSpPr>
        <p:spPr>
          <a:xfrm>
            <a:off x="6537960" y="1719072"/>
            <a:ext cx="5093208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美国主要白领职业的从业人数，万人（BLS，2025 年 5 月）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sp>
        <p:nvSpPr>
          <p:cNvPr id="14" name="ChartSub"/>
          <p:cNvSpPr txBox="1"/>
          <p:nvPr/>
        </p:nvSpPr>
        <p:spPr>
          <a:xfrm>
            <a:off x="6537960" y="1940052"/>
            <a:ext cx="5093208" cy="1508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深蓝 = 首要目标，浅蓝 = 次要（职业模板覆盖），灰 = 暂不进入</a:t>
            </a:r>
          </a:p>
        </p:txBody>
      </p:sp>
      <p:graphicFrame>
        <p:nvGraphicFramePr>
          <p:cNvPr id="15" name="Chart occupa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198447"/>
              </p:ext>
            </p:extLst>
          </p:nvPr>
        </p:nvGraphicFramePr>
        <p:xfrm>
          <a:off x="6537960" y="2145792"/>
          <a:ext cx="5093208" cy="2609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Number"/>
          <p:cNvSpPr txBox="1"/>
          <p:nvPr/>
        </p:nvSpPr>
        <p:spPr>
          <a:xfrm>
            <a:off x="6537960" y="5143043"/>
            <a:ext cx="158800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1" i="0" dirty="0">
                <a:solidFill>
                  <a:srgbClr val="000000"/>
                </a:solidFill>
                <a:latin typeface="Calibri"/>
                <a:ea typeface="Microsoft YaHei"/>
              </a:rPr>
              <a:t>4,050 万</a:t>
            </a:r>
          </a:p>
        </p:txBody>
      </p:sp>
      <p:sp>
        <p:nvSpPr>
          <p:cNvPr id="17" name="NumberNote"/>
          <p:cNvSpPr txBox="1"/>
          <p:nvPr/>
        </p:nvSpPr>
        <p:spPr>
          <a:xfrm>
            <a:off x="6537960" y="5545379"/>
            <a:ext cx="1588008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TAM（估）：每天使用多个 AI 的美国成年人</a:t>
            </a:r>
          </a:p>
        </p:txBody>
      </p:sp>
      <p:sp>
        <p:nvSpPr>
          <p:cNvPr id="18" name="Number"/>
          <p:cNvSpPr txBox="1"/>
          <p:nvPr/>
        </p:nvSpPr>
        <p:spPr>
          <a:xfrm>
            <a:off x="8235696" y="5143043"/>
            <a:ext cx="158800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1" i="0" dirty="0">
                <a:solidFill>
                  <a:srgbClr val="000000"/>
                </a:solidFill>
                <a:latin typeface="Calibri"/>
                <a:ea typeface="Microsoft YaHei"/>
              </a:rPr>
              <a:t>210 万</a:t>
            </a:r>
          </a:p>
        </p:txBody>
      </p:sp>
      <p:sp>
        <p:nvSpPr>
          <p:cNvPr id="19" name="NumberNote"/>
          <p:cNvSpPr txBox="1"/>
          <p:nvPr/>
        </p:nvSpPr>
        <p:spPr>
          <a:xfrm>
            <a:off x="8235696" y="5545379"/>
            <a:ext cx="1588008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SAM（估）：目标职业中的多工具 Windows 用户</a:t>
            </a:r>
          </a:p>
        </p:txBody>
      </p:sp>
      <p:sp>
        <p:nvSpPr>
          <p:cNvPr id="20" name="Number"/>
          <p:cNvSpPr txBox="1"/>
          <p:nvPr/>
        </p:nvSpPr>
        <p:spPr>
          <a:xfrm>
            <a:off x="9933432" y="5143043"/>
            <a:ext cx="158800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904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Calibri"/>
                <a:ea typeface="Microsoft YaHei"/>
              </a:rPr>
              <a:t>160 </a:t>
            </a:r>
            <a:r>
              <a:rPr lang="zh-CN" altLang="en-US" sz="2200" b="1" dirty="0">
                <a:solidFill>
                  <a:srgbClr val="000000"/>
                </a:solidFill>
                <a:latin typeface="Calibri"/>
                <a:ea typeface="Microsoft YaHei"/>
              </a:rPr>
              <a:t>万</a:t>
            </a:r>
          </a:p>
        </p:txBody>
      </p:sp>
      <p:sp>
        <p:nvSpPr>
          <p:cNvPr id="21" name="NumberNote"/>
          <p:cNvSpPr txBox="1"/>
          <p:nvPr/>
        </p:nvSpPr>
        <p:spPr>
          <a:xfrm>
            <a:off x="9933432" y="5545379"/>
            <a:ext cx="1588008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首要 ICP（估）：其中管理、商业与金融岗位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CAF475C-EF52-A7E3-4F32-0F0BB1DC7F27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03 策略制定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核心信息：一份记忆，所有 AI 共用，存在你的电脑上；先讲省事，再讲可控与安心</a:t>
            </a: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注：“受控记忆”是行业语言，对外传播改用用户的说法，如“换个 AI，不用再介绍一遍自己”。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来源：本报告第三章表 3-7；Menlo Ventures 2026；Pew Research Center, Americans and AI 2026（2026-06）。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08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7" name="Group 1"/>
          <p:cNvSpPr txBox="1"/>
          <p:nvPr/>
        </p:nvSpPr>
        <p:spPr>
          <a:xfrm>
            <a:off x="8458200" y="1645920"/>
            <a:ext cx="3172968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先讲省事，再讲安心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省事让用户愿意试，可控和安心让用户放心长期用。哪一句更打动人，由第 3–8 周落地页 A/B 决定；基准情形每组约 5,000 名访客，差距不明显时保留“省事”为主。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58200" y="3012643"/>
            <a:ext cx="3172968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9" name="Group 2"/>
          <p:cNvSpPr txBox="1"/>
          <p:nvPr/>
        </p:nvSpPr>
        <p:spPr>
          <a:xfrm>
            <a:off x="8458200" y="3158947"/>
            <a:ext cx="3172968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对“平台会免费做”的统一回答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OMNA 是平台记忆的补充，负责平台之间的部分。平台不会帮用户把记忆带去别家：Claude 和 Gemini 在 2026 年推出的都只是“从别家导入”，没有一家提供持续的“导出给别家”。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58200" y="4525670"/>
            <a:ext cx="3172968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1" name="Group 3"/>
          <p:cNvSpPr txBox="1"/>
          <p:nvPr/>
        </p:nvSpPr>
        <p:spPr>
          <a:xfrm>
            <a:off x="8458200" y="4671974"/>
            <a:ext cx="3172968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措辞边界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“本地”指记忆的存储位置：AI 读取时，被读到的条目会作为上下文发给该 AI 的服务商。对外只承诺“存在本地、由你决定每个 AI 看哪个工作空间”，不承诺“数据不离开电脑”。</a:t>
            </a:r>
          </a:p>
        </p:txBody>
      </p:sp>
      <p:sp>
        <p:nvSpPr>
          <p:cNvPr id="12" name="Roof"/>
          <p:cNvSpPr/>
          <p:nvPr/>
        </p:nvSpPr>
        <p:spPr>
          <a:xfrm>
            <a:off x="557784" y="1645920"/>
            <a:ext cx="7534656" cy="764210"/>
          </a:xfrm>
          <a:prstGeom prst="rect">
            <a:avLst/>
          </a:prstGeom>
          <a:noFill/>
          <a:ln w="9525">
            <a:solidFill>
              <a:srgbClr val="5E6F8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3" name="RoofText"/>
          <p:cNvSpPr txBox="1"/>
          <p:nvPr/>
        </p:nvSpPr>
        <p:spPr>
          <a:xfrm>
            <a:off x="694944" y="1645920"/>
            <a:ext cx="7260336" cy="76421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dirty="0">
                <a:solidFill>
                  <a:srgbClr val="5E6F86"/>
                </a:solidFill>
                <a:latin typeface="Calibri"/>
                <a:ea typeface="Microsoft YaHei"/>
              </a:rPr>
              <a:t>One memory. Every AI. Stored on your computer.</a:t>
            </a:r>
          </a:p>
          <a:p>
            <a:pPr algn="ctr">
              <a:lnSpc>
                <a:spcPts val="1597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5E6F86"/>
                </a:solidFill>
                <a:latin typeface="Calibri"/>
                <a:ea typeface="Microsoft YaHei"/>
              </a:rPr>
              <a:t>一份记忆，所有 AI 共用，只存在你的电脑上。</a:t>
            </a:r>
          </a:p>
        </p:txBody>
      </p:sp>
      <p:sp>
        <p:nvSpPr>
          <p:cNvPr id="14" name="Positioning"/>
          <p:cNvSpPr/>
          <p:nvPr/>
        </p:nvSpPr>
        <p:spPr>
          <a:xfrm>
            <a:off x="557784" y="2538146"/>
            <a:ext cx="7534656" cy="625272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5" name="PositioningText"/>
          <p:cNvSpPr txBox="1"/>
          <p:nvPr/>
        </p:nvSpPr>
        <p:spPr>
          <a:xfrm>
            <a:off x="694944" y="2538146"/>
            <a:ext cx="7260336" cy="6252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面向同时使用多个 AI 的知识工作者，OMNA 是一份所有 AI 都能使用、只有你能批准写入的私人记忆。与平台自带的记忆不同，它跨工具使用；与云端记忆插件不同，它存在你的电脑上，每个 AI 只能看到你允许的工作空间。</a:t>
            </a:r>
          </a:p>
        </p:txBody>
      </p:sp>
      <p:sp>
        <p:nvSpPr>
          <p:cNvPr id="16" name="Pillar 1"/>
          <p:cNvSpPr/>
          <p:nvPr/>
        </p:nvSpPr>
        <p:spPr>
          <a:xfrm>
            <a:off x="557784" y="3291434"/>
            <a:ext cx="2426208" cy="1847672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7" name="PillarHead"/>
          <p:cNvSpPr txBox="1"/>
          <p:nvPr/>
        </p:nvSpPr>
        <p:spPr>
          <a:xfrm>
            <a:off x="694944" y="3403338"/>
            <a:ext cx="2151888" cy="2028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支柱一：省事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694944" y="3642759"/>
            <a:ext cx="2151888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9" name="Promise"/>
          <p:cNvSpPr txBox="1"/>
          <p:nvPr/>
        </p:nvSpPr>
        <p:spPr>
          <a:xfrm>
            <a:off x="694944" y="3695735"/>
            <a:ext cx="2151888" cy="42412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换 AI 不用重讲背景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</p:txBody>
      </p:sp>
      <p:sp>
        <p:nvSpPr>
          <p:cNvPr id="20" name="Evidence"/>
          <p:cNvSpPr txBox="1"/>
          <p:nvPr/>
        </p:nvSpPr>
        <p:spPr>
          <a:xfrm>
            <a:off x="694944" y="4209416"/>
            <a:ext cx="2151888" cy="3855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美国 AI 用户平均同时使</a:t>
            </a:r>
            <a:r>
              <a:rPr lang="zh-CN" altLang="en-US" sz="1000" dirty="0">
                <a:solidFill>
                  <a:srgbClr val="262626"/>
                </a:solidFill>
                <a:latin typeface="Calibri"/>
                <a:ea typeface="Microsoft YaHei"/>
              </a:rPr>
              <a:t>用 </a:t>
            </a:r>
            <a:r>
              <a:rPr lang="en-US" altLang="zh-CN" sz="1000" b="1" dirty="0">
                <a:solidFill>
                  <a:srgbClr val="262626"/>
                </a:solidFill>
                <a:latin typeface="Calibri"/>
                <a:ea typeface="Microsoft YaHei"/>
              </a:rPr>
              <a:t>3</a:t>
            </a:r>
            <a:r>
              <a:rPr lang="zh-CN" altLang="en-US" sz="1000" b="1" dirty="0">
                <a:solidFill>
                  <a:srgbClr val="262626"/>
                </a:solidFill>
                <a:latin typeface="Calibri"/>
                <a:ea typeface="Microsoft YaHei"/>
              </a:rPr>
              <a:t>个</a:t>
            </a:r>
            <a:r>
              <a:rPr lang="zh-CN" altLang="en-US" sz="1000" dirty="0">
                <a:solidFill>
                  <a:srgbClr val="262626"/>
                </a:solidFill>
                <a:latin typeface="Calibri"/>
                <a:ea typeface="Microsoft YaHei"/>
              </a:rPr>
              <a:t>助</a:t>
            </a: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手（Menlo 2026）</a:t>
            </a:r>
          </a:p>
        </p:txBody>
      </p:sp>
      <p:sp>
        <p:nvSpPr>
          <p:cNvPr id="21" name="Product"/>
          <p:cNvSpPr txBox="1"/>
          <p:nvPr/>
        </p:nvSpPr>
        <p:spPr>
          <a:xfrm>
            <a:off x="694944" y="4684540"/>
            <a:ext cx="2151888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一键安装；导入 ChatGPT 记忆；会话开始时自动带上记忆</a:t>
            </a:r>
          </a:p>
        </p:txBody>
      </p:sp>
      <p:sp>
        <p:nvSpPr>
          <p:cNvPr id="22" name="Pillar 2"/>
          <p:cNvSpPr/>
          <p:nvPr/>
        </p:nvSpPr>
        <p:spPr>
          <a:xfrm>
            <a:off x="3112008" y="3291434"/>
            <a:ext cx="2426208" cy="1847672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3" name="PillarHead"/>
          <p:cNvSpPr txBox="1"/>
          <p:nvPr/>
        </p:nvSpPr>
        <p:spPr>
          <a:xfrm>
            <a:off x="3249168" y="3403338"/>
            <a:ext cx="2151888" cy="2028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支柱二：可控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3249168" y="3642759"/>
            <a:ext cx="2151888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5" name="Promise"/>
          <p:cNvSpPr txBox="1"/>
          <p:nvPr/>
        </p:nvSpPr>
        <p:spPr>
          <a:xfrm>
            <a:off x="3249168" y="3695735"/>
            <a:ext cx="2151888" cy="42412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你批准才会记住，按客户分开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</p:txBody>
      </p:sp>
      <p:sp>
        <p:nvSpPr>
          <p:cNvPr id="26" name="Evidence"/>
          <p:cNvSpPr txBox="1"/>
          <p:nvPr/>
        </p:nvSpPr>
        <p:spPr>
          <a:xfrm>
            <a:off x="3249168" y="4209416"/>
            <a:ext cx="2151888" cy="3855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用户关闭平台记忆，主要因为记忆不受控、会串场（第二章 2.3）</a:t>
            </a:r>
          </a:p>
        </p:txBody>
      </p:sp>
      <p:sp>
        <p:nvSpPr>
          <p:cNvPr id="27" name="Product"/>
          <p:cNvSpPr txBox="1"/>
          <p:nvPr/>
        </p:nvSpPr>
        <p:spPr>
          <a:xfrm>
            <a:off x="3249168" y="4684540"/>
            <a:ext cx="2151888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AI 只能提议、逐条批准；标明来源；Pro 的过期规则与版本历史</a:t>
            </a:r>
          </a:p>
        </p:txBody>
      </p:sp>
      <p:sp>
        <p:nvSpPr>
          <p:cNvPr id="28" name="Pillar 3"/>
          <p:cNvSpPr/>
          <p:nvPr/>
        </p:nvSpPr>
        <p:spPr>
          <a:xfrm>
            <a:off x="5666232" y="3291434"/>
            <a:ext cx="2426208" cy="1847672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9" name="PillarHead"/>
          <p:cNvSpPr txBox="1"/>
          <p:nvPr/>
        </p:nvSpPr>
        <p:spPr>
          <a:xfrm>
            <a:off x="5803392" y="3403338"/>
            <a:ext cx="2151888" cy="2028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支柱三：安心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803392" y="3642759"/>
            <a:ext cx="2151888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31" name="Promise"/>
          <p:cNvSpPr txBox="1"/>
          <p:nvPr/>
        </p:nvSpPr>
        <p:spPr>
          <a:xfrm>
            <a:off x="5803392" y="3695735"/>
            <a:ext cx="2151888" cy="42412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存在本地，每个 AI 只看到你允许的工作空间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</p:txBody>
      </p:sp>
      <p:sp>
        <p:nvSpPr>
          <p:cNvPr id="32" name="Evidence"/>
          <p:cNvSpPr txBox="1"/>
          <p:nvPr/>
        </p:nvSpPr>
        <p:spPr>
          <a:xfrm>
            <a:off x="5803392" y="4209416"/>
            <a:ext cx="2151888" cy="3855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dirty="0">
                <a:solidFill>
                  <a:srgbClr val="0072BC"/>
                </a:solidFill>
                <a:latin typeface="Calibri"/>
                <a:ea typeface="Microsoft YaHei"/>
              </a:rPr>
              <a:t>71%</a:t>
            </a: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 的美国成年人认为 AI 让个人信息更不安全（Pew 2026）</a:t>
            </a:r>
          </a:p>
        </p:txBody>
      </p:sp>
      <p:sp>
        <p:nvSpPr>
          <p:cNvPr id="33" name="Product"/>
          <p:cNvSpPr txBox="1"/>
          <p:nvPr/>
        </p:nvSpPr>
        <p:spPr>
          <a:xfrm>
            <a:off x="5803392" y="4684540"/>
            <a:ext cx="2151888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本地存储；按工作空间授权；开源代码、签名安装包</a:t>
            </a:r>
          </a:p>
        </p:txBody>
      </p:sp>
      <p:sp>
        <p:nvSpPr>
          <p:cNvPr id="34" name="Foundation"/>
          <p:cNvSpPr/>
          <p:nvPr/>
        </p:nvSpPr>
        <p:spPr>
          <a:xfrm>
            <a:off x="557784" y="5267122"/>
            <a:ext cx="7534656" cy="625272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5" name="FoundationText"/>
          <p:cNvSpPr txBox="1"/>
          <p:nvPr/>
        </p:nvSpPr>
        <p:spPr>
          <a:xfrm>
            <a:off x="694944" y="5267122"/>
            <a:ext cx="7260336" cy="6252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入口钩子：两分钟把 ChatGPT 记住的你，带给所有 AI（安装 → 导入 ChatGPT 记忆 → 选择职业模板 → 在第二个 AI 中提问并看到记忆生效）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928A41E-14E7-ADDD-578F-F65D135EB3EB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03 策略制定</a:t>
            </a:r>
            <a:r>
              <a:rPr lang="zh-CN" sz="1050" b="0" i="0" spc="300" dirty="0">
                <a:solidFill>
                  <a:srgbClr val="8C8C8C"/>
                </a:solidFill>
                <a:latin typeface="Calibri"/>
                <a:ea typeface="Microsoft YaHei"/>
              </a:rPr>
              <a:t> 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dirty="0">
                <a:solidFill>
                  <a:srgbClr val="000000"/>
                </a:solidFill>
                <a:latin typeface="Calibri"/>
                <a:ea typeface="Microsoft YaHei"/>
              </a:rPr>
              <a:t>收费模式核心免费，</a:t>
            </a:r>
            <a:r>
              <a:rPr lang="en-US" alt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Pro </a:t>
            </a:r>
            <a:r>
              <a:rPr lang="zh-CN" altLang="en-US" sz="1800" b="0" i="0" dirty="0">
                <a:solidFill>
                  <a:srgbClr val="000000"/>
                </a:solidFill>
                <a:latin typeface="Calibri"/>
                <a:ea typeface="Microsoft YaHei"/>
              </a:rPr>
              <a:t>按工作空间收费</a:t>
            </a:r>
            <a:endParaRPr lang="zh-CN" sz="18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注：OMNA 价格为本报告建议；1.4 万、33 万、16% 为本报告推算，按 RevenueCat 统计的年付订阅首年约 72% 取消计入退订。首发三套职业模板和用户自建模板的分享永远免费。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来源：各产品官网定价页（2026-10-03 获取，年付按 12 个月折算）；RevenueCat, State of Subscription Apps 2026；ChartMogul（2026-01）；OpenView（2022）。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7" name="Group 1"/>
          <p:cNvSpPr txBox="1"/>
          <p:nvPr/>
        </p:nvSpPr>
        <p:spPr>
          <a:xfrm>
            <a:off x="557784" y="1645920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收费单位是工作空间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一个工作空间是一个独立的记忆仓库，如“客户 A”“客户 B”“个人”，AI 在一个空间里读不到其他空间的内容；另有一个所有空间都能读的“关于我”公共区。客户和项目越多越需要隔离，收费与价值同步增长。OMNA 不做跨设备同步，付费点全是本地就能交付的价值。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" y="3018015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9" name="Group 2"/>
          <p:cNvSpPr txBox="1"/>
          <p:nvPr/>
        </p:nvSpPr>
        <p:spPr>
          <a:xfrm>
            <a:off x="557784" y="3169691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价格低于竞品，像一笔配套开支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定价参照 Obsidian 的“核心免费、增值服务收费”。跨工具记忆竞品年付折合每月 $7.4–9，AI 订阅本身是 $17–20。Pro 年付 $72 折合每月 $6，低于所有记忆竞品；月付 $8 与 Raycast Pro 年付相当，约为一个 AI 订阅的 40%，对每月自费 $55 在 AI 上的人只是一笔配套开支。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" y="4541787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1" name="Group 3"/>
          <p:cNvSpPr txBox="1"/>
          <p:nvPr/>
        </p:nvSpPr>
        <p:spPr>
          <a:xfrm>
            <a:off x="557784" y="4693463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个人版建滩头，规模收入靠 Team 版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转付费在本方案中统一按“激活→付费”计算：长期 3%，8 周 1.5%（Pro 第 5 周才开放）。年收入 100 万美元需要约 1.4 万名同时付费的用户；计入退订，每年要补进</a:t>
            </a:r>
            <a:r>
              <a:rPr lang="zh-CN" sz="1100" b="1" i="0" dirty="0">
                <a:solidFill>
                  <a:srgbClr val="0072BC"/>
                </a:solidFill>
                <a:latin typeface="Calibri"/>
                <a:ea typeface="Microsoft YaHei"/>
              </a:rPr>
              <a:t>约 33 万</a:t>
            </a: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名新激活用户，相当于 SAM 的 16%（估），而 3 年中档累计只有约 2.1 万，所以规模收入要靠 Team 版。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1645920"/>
            <a:ext cx="5093208" cy="0"/>
          </a:xfrm>
          <a:prstGeom prst="line">
            <a:avLst/>
          </a:prstGeom>
          <a:ln w="6350">
            <a:solidFill>
              <a:srgbClr val="0072BC"/>
            </a:solidFill>
          </a:ln>
        </p:spPr>
      </p:cxnSp>
      <p:sp>
        <p:nvSpPr>
          <p:cNvPr id="13" name="ChartTitle"/>
          <p:cNvSpPr txBox="1"/>
          <p:nvPr/>
        </p:nvSpPr>
        <p:spPr>
          <a:xfrm>
            <a:off x="6537960" y="1719072"/>
            <a:ext cx="5093208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每月价格，美元（年付按 12 个月折合；标“月付”的只有月付价）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graphicFrame>
        <p:nvGraphicFramePr>
          <p:cNvPr id="14" name="Chart monthly pric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346241"/>
              </p:ext>
            </p:extLst>
          </p:nvPr>
        </p:nvGraphicFramePr>
        <p:xfrm>
          <a:off x="6537960" y="1958340"/>
          <a:ext cx="5093208" cy="2339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Table tiers"/>
          <p:cNvGraphicFramePr>
            <a:graphicFrameLocks noGrp="1"/>
          </p:cNvGraphicFramePr>
          <p:nvPr/>
        </p:nvGraphicFramePr>
        <p:xfrm>
          <a:off x="6537960" y="4498848"/>
          <a:ext cx="5093208" cy="1415034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2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598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层级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价格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包含内容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Free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$0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 个工作空间、“关于我”公共区、所有支持的 AI、批准制、导入、基础模板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Pro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$8/月或 $72/年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不限工作空间、记忆过期规则、版本历史与使用记录、全部职业模板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Team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之后再定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小型事务所和咨询团队共享记忆、管理后台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API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不做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与“个人记忆”的定位冲突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FF89BFE-4542-6C12-3FC8-BDD6251588CF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03 策略制定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一次点击要 $5–16，高于一个激活用户</a:t>
            </a:r>
            <a:r>
              <a:rPr lang="zh-CN" altLang="en-US" dirty="0">
                <a:solidFill>
                  <a:srgbClr val="000000"/>
                </a:solidFill>
                <a:latin typeface="Calibri"/>
                <a:ea typeface="Microsoft YaHei"/>
              </a:rPr>
              <a:t>约 </a:t>
            </a:r>
            <a:r>
              <a:rPr lang="en-US" altLang="zh-CN" dirty="0">
                <a:solidFill>
                  <a:srgbClr val="000000"/>
                </a:solidFill>
                <a:latin typeface="Calibri"/>
                <a:ea typeface="Microsoft YaHei"/>
              </a:rPr>
              <a:t>$3.33</a:t>
            </a:r>
            <a:r>
              <a:rPr lang="zh-CN" altLang="en-US" dirty="0">
                <a:solidFill>
                  <a:srgbClr val="000000"/>
                </a:solidFill>
                <a:latin typeface="Calibri"/>
                <a:ea typeface="Microsoft YaHei"/>
              </a:rPr>
              <a:t> 的长</a:t>
            </a: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期价值，所以不投点击广告获客</a:t>
            </a:r>
          </a:p>
        </p:txBody>
      </p:sp>
      <p:sp>
        <p:nvSpPr>
          <p:cNvPr id="4" name="Footnote"/>
          <p:cNvSpPr txBox="1"/>
          <p:nvPr/>
        </p:nvSpPr>
        <p:spPr>
          <a:xfrm>
            <a:off x="557784" y="6199632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注：$2.16、$1.06、$3.33 为本报告按长期 3% 转化率推算，收入口径，未扣支付手续费；Product Hunt 获客成本为二手汇总。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来源：RevenueCat, State of Subscription Apps 2026；WordStream, Google Ads Benchmarks 2025；WebFX, LinkedIn Benchmarks 2026；HockeyStack, LinkedIn Ads Benchmarks 2025；shno.co；Pew Research Center, Americans’ Social Media Use（2025-11；LinkedIn 取自 2024-01 发布的调查）。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7" name="Group 1"/>
          <p:cNvSpPr txBox="1"/>
          <p:nvPr/>
        </p:nvSpPr>
        <p:spPr>
          <a:xfrm>
            <a:off x="557784" y="1645920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先算一个激活用户值多少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Pro 年付 $72、长期转付费 3%，一个激活用户首年带来 $2.16；按 RevenueCat 商务类付费用户首年实际收入中位数 $35.48 算，只有 $1.06。年付订阅约 72% 在首年取消，计入续费和 0.1 的推荐系数，长期最多约 $3.33，这就是获客成本的盈亏线，而且还没扣支付手续费。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" y="3012643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9" name="Group 2"/>
          <p:cNvSpPr txBox="1"/>
          <p:nvPr/>
        </p:nvSpPr>
        <p:spPr>
          <a:xfrm>
            <a:off x="557784" y="3158947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点击广告算不过账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Google 搜索广告平均每次点击 $5.26，LinkedIn 在美国是 $8–10，B2B SaaS 企业的实际投放达到 $10.48–15.72，已是一个激活用户首年</a:t>
            </a:r>
            <a:r>
              <a:rPr lang="zh-CN" altLang="en-US" sz="1100" dirty="0">
                <a:solidFill>
                  <a:srgbClr val="6E6E6E"/>
                </a:solidFill>
                <a:latin typeface="Calibri"/>
                <a:ea typeface="Microsoft YaHei"/>
              </a:rPr>
              <a:t>收入的 </a:t>
            </a:r>
            <a:r>
              <a:rPr lang="en-US" altLang="zh-CN" sz="1100" dirty="0">
                <a:solidFill>
                  <a:srgbClr val="6E6E6E"/>
                </a:solidFill>
                <a:latin typeface="Calibri"/>
                <a:ea typeface="Microsoft YaHei"/>
              </a:rPr>
              <a:t>2.4–15 </a:t>
            </a:r>
            <a:r>
              <a:rPr lang="zh-CN" altLang="en-US" sz="1100" dirty="0">
                <a:solidFill>
                  <a:srgbClr val="6E6E6E"/>
                </a:solidFill>
                <a:latin typeface="Calibri"/>
                <a:ea typeface="Microsoft YaHei"/>
              </a:rPr>
              <a:t>倍，而点</a:t>
            </a: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击之后还要下载、安装、激活，每一步都有流失。所以付费投放只保留一小笔，用来给落地页的口号 A/B 补充流量。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" y="4525670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1" name="Group 3"/>
          <p:cNvSpPr txBox="1"/>
          <p:nvPr/>
        </p:nvSpPr>
        <p:spPr>
          <a:xfrm>
            <a:off x="557784" y="4671974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去知识工作者已经在的平台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知识工作者不在 Hacker News 上找工具：YouTube 覆盖 84% 的美国成年人，LinkedIn 在本科以上人群中的使用率为 53%，约为全体的两倍。所以主渠道是这两个平台的自然内容加创作者合作，Reddit 社区负责口碑，Product Hunt 只负责首发曝光，Hacker News 降为次要渠道。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1645920"/>
            <a:ext cx="5093208" cy="0"/>
          </a:xfrm>
          <a:prstGeom prst="line">
            <a:avLst/>
          </a:prstGeom>
          <a:ln w="6350">
            <a:solidFill>
              <a:srgbClr val="0072BC"/>
            </a:solidFill>
          </a:ln>
        </p:spPr>
      </p:cxnSp>
      <p:sp>
        <p:nvSpPr>
          <p:cNvPr id="13" name="ChartTitle"/>
          <p:cNvSpPr txBox="1"/>
          <p:nvPr/>
        </p:nvSpPr>
        <p:spPr>
          <a:xfrm>
            <a:off x="6537960" y="1719072"/>
            <a:ext cx="5093208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一个激活用户的收入 vs 各渠道单价，美元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graphicFrame>
        <p:nvGraphicFramePr>
          <p:cNvPr id="14" name="Chart acquisition co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598487"/>
              </p:ext>
            </p:extLst>
          </p:nvPr>
        </p:nvGraphicFramePr>
        <p:xfrm>
          <a:off x="6537960" y="1958340"/>
          <a:ext cx="5093208" cy="2339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5" name="Connector 14"/>
          <p:cNvCxnSpPr/>
          <p:nvPr/>
        </p:nvCxnSpPr>
        <p:spPr>
          <a:xfrm>
            <a:off x="8975258" y="2141220"/>
            <a:ext cx="0" cy="2138172"/>
          </a:xfrm>
          <a:prstGeom prst="line">
            <a:avLst/>
          </a:prstGeom>
          <a:ln w="9525">
            <a:solidFill>
              <a:srgbClr val="0072BC"/>
            </a:solidFill>
            <a:prstDash val="dash"/>
          </a:ln>
        </p:spPr>
      </p:cxnSp>
      <p:sp>
        <p:nvSpPr>
          <p:cNvPr id="16" name="Note"/>
          <p:cNvSpPr txBox="1"/>
          <p:nvPr/>
        </p:nvSpPr>
        <p:spPr>
          <a:xfrm>
            <a:off x="8426618" y="1967484"/>
            <a:ext cx="1097280" cy="1508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盈亏线 $3.33</a:t>
            </a:r>
          </a:p>
        </p:txBody>
      </p:sp>
      <p:graphicFrame>
        <p:nvGraphicFramePr>
          <p:cNvPr id="17" name="Table channel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327923"/>
              </p:ext>
            </p:extLst>
          </p:nvPr>
        </p:nvGraphicFramePr>
        <p:xfrm>
          <a:off x="6537960" y="4498848"/>
          <a:ext cx="5093208" cy="1393545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709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渠道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角色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投放方式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09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LinkedIn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按职业精准触达，建立专业可信度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自然内容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709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YouTube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演示与教程，承接搜索流量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自然内容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709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AI 提效创作者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借用已有的信任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付费合作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709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Product Hunt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首发集中曝光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自然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0089996-5C46-C27C-F8BC-A9DD6D6F333A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04 执行计划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8 周分 4 个两周冲刺，第 4 周 Product Hunt 首发，$15,000 预算的 40% 给合作</a:t>
            </a: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注：约 $140 = $15,000 ÷ 基准约 110 名激活用户，为本报告推算；冲刺之内按周运转：周一看数据，周中上线改进，周五发布一条更新内容。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来源：本报告计划；Stripe, Inside the growth of the top AI companies on Stripe（2025-06）；RevenueCat 2026；单价依据见附录 A4（Influencer Marketing Hub、beehiiv、User Interviews）。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7" name="Group 1"/>
          <p:cNvSpPr txBox="1"/>
          <p:nvPr/>
        </p:nvSpPr>
        <p:spPr>
          <a:xfrm>
            <a:off x="557784" y="1645920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为什么是 8 周、4 个冲刺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AI 产品的节奏比传统 GTM 快：Stripe 统计的头部 100 家 AI 公司，达到 100 万美元年收入的中位时间是 11.5 个月，Lovable 几乎每两周就有一次一级发布。8 周的长度由留存决定：第 4 周首发的用户，到第 8 周末正好满 30 天，计划结束时就能读到首发批次的 D30。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" y="3012643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9" name="Group 2"/>
          <p:cNvSpPr txBox="1"/>
          <p:nvPr/>
        </p:nvSpPr>
        <p:spPr>
          <a:xfrm>
            <a:off x="557784" y="3158947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每个冲刺一次发布、一道关口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冲刺 1 要求等候名单 ≥ 200、私测安装完成率 ≥ 70%；冲刺 2 第 3 周公开 Beta、第 4 周首发，7 天激活率 ≥ 30%；冲刺 3 第 5 周开放 Pro，≥ 15% 的激活用户用满 2 个工作空间，PMF 调查“非常失望”≥ 25%；冲刺 4 上线模板分享，第 8 周复盘。没过的关口，下一冲刺先补。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" y="4525670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1" name="Group 3"/>
          <p:cNvSpPr txBox="1"/>
          <p:nvPr/>
        </p:nvSpPr>
        <p:spPr>
          <a:xfrm>
            <a:off x="557784" y="4671974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钱跟着验证顺序走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合作 $6,000（YouTube 创作者约 $4,000、Newsletter 约 $2,000）、社区与内容 $3,500、产品入口 $2,000、付费实验和用户研究各 $1,500、机动 $500。激活过关之前不在合作上花大钱：合作集中在冲刺 3、4，按每个激活用户的成本考核，不超过 $100 的继续，超过 $200 的停掉。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1645920"/>
            <a:ext cx="5093208" cy="0"/>
          </a:xfrm>
          <a:prstGeom prst="line">
            <a:avLst/>
          </a:prstGeom>
          <a:ln w="6350">
            <a:solidFill>
              <a:srgbClr val="0072BC"/>
            </a:solidFill>
          </a:ln>
        </p:spPr>
      </p:cxnSp>
      <p:sp>
        <p:nvSpPr>
          <p:cNvPr id="13" name="ChartTitle"/>
          <p:cNvSpPr txBox="1"/>
          <p:nvPr/>
        </p:nvSpPr>
        <p:spPr>
          <a:xfrm>
            <a:off x="6537960" y="1719072"/>
            <a:ext cx="5093208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8 周执行计划：任务与发布节点，按周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sp>
        <p:nvSpPr>
          <p:cNvPr id="14" name="ChartSub"/>
          <p:cNvSpPr txBox="1"/>
          <p:nvPr/>
        </p:nvSpPr>
        <p:spPr>
          <a:xfrm>
            <a:off x="6537960" y="1940052"/>
            <a:ext cx="5093208" cy="1508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深蓝 = Product Hunt 首发，浅蓝 = 其他发布</a:t>
            </a:r>
          </a:p>
        </p:txBody>
      </p:sp>
      <p:graphicFrame>
        <p:nvGraphicFramePr>
          <p:cNvPr id="15" name="Chart gant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67525"/>
              </p:ext>
            </p:extLst>
          </p:nvPr>
        </p:nvGraphicFramePr>
        <p:xfrm>
          <a:off x="6534822" y="2279468"/>
          <a:ext cx="5093208" cy="2609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6" name="Connector 15"/>
          <p:cNvCxnSpPr/>
          <p:nvPr/>
        </p:nvCxnSpPr>
        <p:spPr>
          <a:xfrm>
            <a:off x="9386452" y="2456688"/>
            <a:ext cx="0" cy="2279904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0116403" y="2456688"/>
            <a:ext cx="0" cy="2279904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10846353" y="2456688"/>
            <a:ext cx="0" cy="2279904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6537960" y="3108089"/>
            <a:ext cx="5093208" cy="0"/>
          </a:xfrm>
          <a:prstGeom prst="line">
            <a:avLst/>
          </a:prstGeom>
          <a:ln w="6350">
            <a:solidFill>
              <a:srgbClr val="E5E5E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6537960" y="3596640"/>
            <a:ext cx="5093208" cy="0"/>
          </a:xfrm>
          <a:prstGeom prst="line">
            <a:avLst/>
          </a:prstGeom>
          <a:ln w="6350">
            <a:solidFill>
              <a:srgbClr val="E5E5E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6537960" y="4248041"/>
            <a:ext cx="5093208" cy="0"/>
          </a:xfrm>
          <a:prstGeom prst="line">
            <a:avLst/>
          </a:prstGeom>
          <a:ln w="6350">
            <a:solidFill>
              <a:srgbClr val="E5E5E5"/>
            </a:solidFill>
          </a:ln>
        </p:spPr>
      </p:cxnSp>
      <p:sp>
        <p:nvSpPr>
          <p:cNvPr id="22" name="Sprint label"/>
          <p:cNvSpPr txBox="1"/>
          <p:nvPr/>
        </p:nvSpPr>
        <p:spPr>
          <a:xfrm>
            <a:off x="8564277" y="2016053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冲刺 1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第 1–2 周</a:t>
            </a:r>
          </a:p>
        </p:txBody>
      </p:sp>
      <p:sp>
        <p:nvSpPr>
          <p:cNvPr id="23" name="Sprint label"/>
          <p:cNvSpPr txBox="1"/>
          <p:nvPr/>
        </p:nvSpPr>
        <p:spPr>
          <a:xfrm>
            <a:off x="9294227" y="2023791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冲刺 2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第 3–4 周</a:t>
            </a:r>
          </a:p>
        </p:txBody>
      </p:sp>
      <p:sp>
        <p:nvSpPr>
          <p:cNvPr id="24" name="Sprint label"/>
          <p:cNvSpPr txBox="1"/>
          <p:nvPr/>
        </p:nvSpPr>
        <p:spPr>
          <a:xfrm>
            <a:off x="10024178" y="2010591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冲刺 3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第 5–6 周</a:t>
            </a:r>
          </a:p>
        </p:txBody>
      </p:sp>
      <p:sp>
        <p:nvSpPr>
          <p:cNvPr id="25" name="Sprint label"/>
          <p:cNvSpPr txBox="1"/>
          <p:nvPr/>
        </p:nvSpPr>
        <p:spPr>
          <a:xfrm>
            <a:off x="10754128" y="2010591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冲刺 4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第 7–8 周</a:t>
            </a:r>
          </a:p>
        </p:txBody>
      </p:sp>
      <p:sp>
        <p:nvSpPr>
          <p:cNvPr id="26" name="Number"/>
          <p:cNvSpPr txBox="1"/>
          <p:nvPr/>
        </p:nvSpPr>
        <p:spPr>
          <a:xfrm>
            <a:off x="6537960" y="5143043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1" i="0" dirty="0">
                <a:solidFill>
                  <a:srgbClr val="000000"/>
                </a:solidFill>
                <a:latin typeface="Calibri"/>
                <a:ea typeface="Microsoft YaHei"/>
              </a:rPr>
              <a:t>$15,000</a:t>
            </a:r>
          </a:p>
        </p:txBody>
      </p:sp>
      <p:sp>
        <p:nvSpPr>
          <p:cNvPr id="27" name="NumberNote"/>
          <p:cNvSpPr txBox="1"/>
          <p:nvPr/>
        </p:nvSpPr>
        <p:spPr>
          <a:xfrm>
            <a:off x="6537960" y="5545379"/>
            <a:ext cx="1719072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8 周总预算，不投点击广告获客</a:t>
            </a:r>
          </a:p>
        </p:txBody>
      </p:sp>
      <p:sp>
        <p:nvSpPr>
          <p:cNvPr id="28" name="Number"/>
          <p:cNvSpPr txBox="1"/>
          <p:nvPr/>
        </p:nvSpPr>
        <p:spPr>
          <a:xfrm>
            <a:off x="8366760" y="5143043"/>
            <a:ext cx="162763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904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Calibri"/>
                <a:ea typeface="Microsoft YaHei"/>
              </a:rPr>
              <a:t>40%</a:t>
            </a:r>
          </a:p>
        </p:txBody>
      </p:sp>
      <p:sp>
        <p:nvSpPr>
          <p:cNvPr id="29" name="NumberNote"/>
          <p:cNvSpPr txBox="1"/>
          <p:nvPr/>
        </p:nvSpPr>
        <p:spPr>
          <a:xfrm>
            <a:off x="8366760" y="5545379"/>
            <a:ext cx="1627632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用于创作者与 Newsletter 合作，冲刺 3、4 各 $2,500</a:t>
            </a:r>
          </a:p>
        </p:txBody>
      </p:sp>
      <p:sp>
        <p:nvSpPr>
          <p:cNvPr id="30" name="Number"/>
          <p:cNvSpPr txBox="1"/>
          <p:nvPr/>
        </p:nvSpPr>
        <p:spPr>
          <a:xfrm>
            <a:off x="10104120" y="5143043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1" dirty="0">
                <a:solidFill>
                  <a:srgbClr val="000000"/>
                </a:solidFill>
                <a:latin typeface="Calibri"/>
                <a:ea typeface="Microsoft YaHei"/>
              </a:rPr>
              <a:t>约 </a:t>
            </a:r>
            <a:r>
              <a:rPr lang="en-US" altLang="zh-CN" sz="2200" b="1" dirty="0">
                <a:solidFill>
                  <a:srgbClr val="000000"/>
                </a:solidFill>
                <a:latin typeface="Calibri"/>
                <a:ea typeface="Microsoft YaHei"/>
              </a:rPr>
              <a:t>$140</a:t>
            </a:r>
          </a:p>
        </p:txBody>
      </p:sp>
      <p:sp>
        <p:nvSpPr>
          <p:cNvPr id="31" name="NumberNote"/>
          <p:cNvSpPr txBox="1"/>
          <p:nvPr/>
        </p:nvSpPr>
        <p:spPr>
          <a:xfrm>
            <a:off x="10104120" y="5545379"/>
            <a:ext cx="1417320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每个激活用户的平均花费（估），是验证投资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D2C5309-8ACE-5F22-558F-9F54C980DF21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04 执行计划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基准约 12,000 访客带来约 110 名激活用户，北极星是第 8 周每周跨 A</a:t>
            </a:r>
            <a:r>
              <a:rPr lang="en-US" altLang="zh-CN" dirty="0">
                <a:solidFill>
                  <a:srgbClr val="000000"/>
                </a:solidFill>
                <a:latin typeface="Calibri"/>
                <a:ea typeface="Microsoft YaHei"/>
              </a:rPr>
              <a:t>I </a:t>
            </a:r>
            <a:r>
              <a:rPr lang="zh-CN" altLang="en-US" dirty="0">
                <a:solidFill>
                  <a:srgbClr val="000000"/>
                </a:solidFill>
                <a:latin typeface="Calibri"/>
                <a:ea typeface="Microsoft YaHei"/>
              </a:rPr>
              <a:t>活跃 ≥ </a:t>
            </a:r>
            <a:r>
              <a:rPr lang="en-US" altLang="zh-CN" dirty="0">
                <a:solidFill>
                  <a:srgbClr val="000000"/>
                </a:solidFill>
                <a:latin typeface="Calibri"/>
                <a:ea typeface="Microsoft YaHei"/>
              </a:rPr>
              <a:t>35</a:t>
            </a:r>
            <a:endParaRPr lang="zh-CN" altLang="en-US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注：访客、安装、激活用户为本报告按公开基准中位数推算的目标（估），推算过程见附录 A4；8 周付费用户约 2 人，样本太小，变现过关看“用满”比例。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来源：StatCounter（2026-09）；Unbounce, Conversion Benchmark Report 2024；Lenny Rachitsky（2022、2020）；Userpilot 2025；RevenueCat 2026。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7" name="Group 1"/>
          <p:cNvSpPr txBox="1"/>
          <p:nvPr/>
        </p:nvSpPr>
        <p:spPr>
          <a:xfrm>
            <a:off x="8458200" y="1645920"/>
            <a:ext cx="3172968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为什么选它当北极星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六个候选指标中，只有它同时反映跨 AI 的价值、领先于收入、每周可推动、能在本地统计。周活跃用户会把只在一个 AI 里用 OMNA 的人算进去，而他们用平台记忆就够了。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58200" y="3012643"/>
            <a:ext cx="3172968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9" name="Group 2"/>
          <p:cNvSpPr txBox="1"/>
          <p:nvPr/>
        </p:nvSpPr>
        <p:spPr>
          <a:xfrm>
            <a:off x="8458200" y="3158947"/>
            <a:ext cx="3172968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目标取公开基准的中位数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7 天激活率 30% 是 SaaS 中位数，低于均值 36% 和 AI 与机器学习类的 54.8%；D30 30% 由 B2B SaaS 一个月留存均值 46.9% 按 AI 应用月留存差 36% 折算，两个来源口径不完全相同，只作参照。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58200" y="4525670"/>
            <a:ext cx="3172968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1" name="Group 3"/>
          <p:cNvSpPr txBox="1"/>
          <p:nvPr/>
        </p:nvSpPr>
        <p:spPr>
          <a:xfrm>
            <a:off x="8458200" y="4671974"/>
            <a:ext cx="3172968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数据只在本地统计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哪个 AI 在哪天读取了记忆、用户批准和修改了多少条，都在用户电脑上统计；Beta 期间的匿名周报只包含次数，不包含任何记忆内容，加入时明确告知。</a:t>
            </a:r>
          </a:p>
        </p:txBody>
      </p:sp>
      <p:sp>
        <p:nvSpPr>
          <p:cNvPr id="12" name="NorthStar"/>
          <p:cNvSpPr/>
          <p:nvPr/>
        </p:nvSpPr>
        <p:spPr>
          <a:xfrm>
            <a:off x="2542032" y="1645920"/>
            <a:ext cx="3566160" cy="824230"/>
          </a:xfrm>
          <a:prstGeom prst="rect">
            <a:avLst/>
          </a:prstGeom>
          <a:noFill/>
          <a:ln w="9525">
            <a:solidFill>
              <a:srgbClr val="5E6F8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 b="1" dirty="0"/>
          </a:p>
        </p:txBody>
      </p:sp>
      <p:sp>
        <p:nvSpPr>
          <p:cNvPr id="13" name="NorthStarText"/>
          <p:cNvSpPr txBox="1"/>
          <p:nvPr/>
        </p:nvSpPr>
        <p:spPr>
          <a:xfrm>
            <a:off x="2633472" y="1645920"/>
            <a:ext cx="3383280" cy="8242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5E6F86"/>
                </a:solidFill>
                <a:latin typeface="Calibri"/>
                <a:ea typeface="Microsoft YaHei"/>
              </a:rPr>
              <a:t>北极星：每周跨 AI 活跃用户</a:t>
            </a:r>
            <a:endParaRPr lang="zh-CN" sz="1100" b="0" i="0" dirty="0">
              <a:solidFill>
                <a:srgbClr val="5E6F86"/>
              </a:solidFill>
              <a:latin typeface="Calibri"/>
              <a:ea typeface="Microsoft YaHei"/>
            </a:endParaRPr>
          </a:p>
          <a:p>
            <a:pPr algn="ctr">
              <a:lnSpc>
                <a:spcPts val="145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5E6F86"/>
                </a:solidFill>
                <a:latin typeface="Calibri"/>
                <a:ea typeface="Microsoft YaHei"/>
              </a:rPr>
              <a:t>当周至少两个 AI 读取过记忆的用户数</a:t>
            </a:r>
          </a:p>
          <a:p>
            <a:pPr algn="ctr">
              <a:lnSpc>
                <a:spcPts val="2033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400" b="1" i="0" dirty="0">
                <a:solidFill>
                  <a:srgbClr val="5E6F86"/>
                </a:solidFill>
                <a:latin typeface="Calibri"/>
                <a:ea typeface="Microsoft YaHei"/>
              </a:rPr>
              <a:t>目标：第 8 周 ≥ 35</a:t>
            </a:r>
            <a:endParaRPr lang="zh-CN" sz="1400" b="0" i="0" dirty="0">
              <a:solidFill>
                <a:srgbClr val="5E6F86"/>
              </a:solidFill>
              <a:latin typeface="Calibri"/>
              <a:ea typeface="Microsoft YaHei"/>
            </a:endParaRPr>
          </a:p>
        </p:txBody>
      </p:sp>
      <p:sp>
        <p:nvSpPr>
          <p:cNvPr id="14" name="NorthStarNote"/>
          <p:cNvSpPr txBox="1"/>
          <p:nvPr/>
        </p:nvSpPr>
        <p:spPr>
          <a:xfrm>
            <a:off x="2404872" y="2515870"/>
            <a:ext cx="3840480" cy="1508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约 110 × D30 30% × 1.15（近期批次留存更高）≈ 37，按宽松原则取 35</a:t>
            </a:r>
          </a:p>
        </p:txBody>
      </p:sp>
      <p:sp>
        <p:nvSpPr>
          <p:cNvPr id="15" name="Users"/>
          <p:cNvSpPr/>
          <p:nvPr/>
        </p:nvSpPr>
        <p:spPr>
          <a:xfrm>
            <a:off x="557784" y="2842141"/>
            <a:ext cx="3511296" cy="732028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6" name="Retention"/>
          <p:cNvSpPr/>
          <p:nvPr/>
        </p:nvSpPr>
        <p:spPr>
          <a:xfrm>
            <a:off x="4581144" y="2842141"/>
            <a:ext cx="3511296" cy="732028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7" name="UsersText"/>
          <p:cNvSpPr txBox="1"/>
          <p:nvPr/>
        </p:nvSpPr>
        <p:spPr>
          <a:xfrm>
            <a:off x="649224" y="2842141"/>
            <a:ext cx="3328416" cy="732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累计激活用户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  <a:p>
            <a:pPr algn="l">
              <a:lnSpc>
                <a:spcPts val="1452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约 110（冲刺约 240）</a:t>
            </a:r>
          </a:p>
        </p:txBody>
      </p:sp>
      <p:sp>
        <p:nvSpPr>
          <p:cNvPr id="18" name="RetentionText"/>
          <p:cNvSpPr txBox="1"/>
          <p:nvPr/>
        </p:nvSpPr>
        <p:spPr>
          <a:xfrm>
            <a:off x="4672584" y="2842141"/>
            <a:ext cx="3328416" cy="732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留存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  <a:p>
            <a:pPr algn="l">
              <a:lnSpc>
                <a:spcPts val="1452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D7 ≥ 40%，D30 ≥ 30%</a:t>
            </a:r>
          </a:p>
          <a:p>
            <a:pPr algn="l">
              <a:lnSpc>
                <a:spcPts val="1307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安装后第 2 周 / 第 5 周仍有两个以上 AI 读取记忆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313432" y="2058035"/>
            <a:ext cx="2286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2313432" y="2058035"/>
            <a:ext cx="0" cy="784106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6108192" y="2058035"/>
            <a:ext cx="2286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6336792" y="2058035"/>
            <a:ext cx="0" cy="784106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3" name="Times"/>
          <p:cNvSpPr txBox="1"/>
          <p:nvPr/>
        </p:nvSpPr>
        <p:spPr>
          <a:xfrm>
            <a:off x="4142232" y="3080139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dirty="0">
                <a:solidFill>
                  <a:srgbClr val="737373"/>
                </a:solidFill>
                <a:latin typeface="Calibri"/>
                <a:ea typeface="Microsoft YaHei"/>
              </a:rPr>
              <a:t>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13432" y="3574169"/>
            <a:ext cx="0" cy="87698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1396746" y="3661867"/>
            <a:ext cx="585673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1396746" y="3661867"/>
            <a:ext cx="0" cy="87698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7" name="Driver 1"/>
          <p:cNvSpPr/>
          <p:nvPr/>
        </p:nvSpPr>
        <p:spPr>
          <a:xfrm>
            <a:off x="557784" y="3749565"/>
            <a:ext cx="1677924" cy="1261059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8" name="DriverText"/>
          <p:cNvSpPr txBox="1"/>
          <p:nvPr/>
        </p:nvSpPr>
        <p:spPr>
          <a:xfrm>
            <a:off x="649224" y="3749565"/>
            <a:ext cx="1495044" cy="126105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访客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  <a:p>
            <a:pPr algn="l">
              <a:lnSpc>
                <a:spcPts val="145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约 12,000（冲刺约 27,000）</a:t>
            </a:r>
          </a:p>
          <a:p>
            <a:pPr algn="l">
              <a:lnSpc>
                <a:spcPts val="1307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只有 Windows 访客（64.5%）能直接安装</a:t>
            </a:r>
          </a:p>
          <a:p>
            <a:pPr algn="l">
              <a:lnSpc>
                <a:spcPts val="1307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杠杆：内容与合作</a:t>
            </a:r>
          </a:p>
        </p:txBody>
      </p:sp>
      <p:sp>
        <p:nvSpPr>
          <p:cNvPr id="29" name="Times"/>
          <p:cNvSpPr txBox="1"/>
          <p:nvPr/>
        </p:nvSpPr>
        <p:spPr>
          <a:xfrm>
            <a:off x="2235708" y="4252079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dirty="0">
                <a:solidFill>
                  <a:srgbClr val="737373"/>
                </a:solidFill>
                <a:latin typeface="Calibri"/>
                <a:ea typeface="Microsoft YaHei"/>
              </a:rPr>
              <a:t>×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48990" y="3661867"/>
            <a:ext cx="0" cy="87698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1" name="Driver 2"/>
          <p:cNvSpPr/>
          <p:nvPr/>
        </p:nvSpPr>
        <p:spPr>
          <a:xfrm>
            <a:off x="2510028" y="3749565"/>
            <a:ext cx="1677924" cy="1261059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2" name="DriverText"/>
          <p:cNvSpPr txBox="1"/>
          <p:nvPr/>
        </p:nvSpPr>
        <p:spPr>
          <a:xfrm>
            <a:off x="2601468" y="3749565"/>
            <a:ext cx="1495044" cy="126105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下载率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  <a:p>
            <a:pPr algn="l">
              <a:lnSpc>
                <a:spcPts val="145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6.6%</a:t>
            </a:r>
          </a:p>
          <a:p>
            <a:pPr algn="l">
              <a:lnSpc>
                <a:spcPts val="1307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Unbounce 全行业中位数</a:t>
            </a:r>
          </a:p>
          <a:p>
            <a:pPr algn="l">
              <a:lnSpc>
                <a:spcPts val="1307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杠杆：落地页与口号</a:t>
            </a:r>
          </a:p>
        </p:txBody>
      </p:sp>
      <p:sp>
        <p:nvSpPr>
          <p:cNvPr id="33" name="Times"/>
          <p:cNvSpPr txBox="1"/>
          <p:nvPr/>
        </p:nvSpPr>
        <p:spPr>
          <a:xfrm>
            <a:off x="4187952" y="4252079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dirty="0">
                <a:solidFill>
                  <a:srgbClr val="737373"/>
                </a:solidFill>
                <a:latin typeface="Calibri"/>
                <a:ea typeface="Microsoft YaHei"/>
              </a:rPr>
              <a:t>×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01234" y="3661867"/>
            <a:ext cx="0" cy="87698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5" name="Driver 3"/>
          <p:cNvSpPr/>
          <p:nvPr/>
        </p:nvSpPr>
        <p:spPr>
          <a:xfrm>
            <a:off x="4462272" y="3749565"/>
            <a:ext cx="1677924" cy="1261059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6" name="DriverText"/>
          <p:cNvSpPr txBox="1"/>
          <p:nvPr/>
        </p:nvSpPr>
        <p:spPr>
          <a:xfrm>
            <a:off x="4553712" y="3749565"/>
            <a:ext cx="1495044" cy="126105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安装完成率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  <a:p>
            <a:pPr algn="l">
              <a:lnSpc>
                <a:spcPts val="145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70%</a:t>
            </a:r>
          </a:p>
          <a:p>
            <a:pPr algn="l">
              <a:lnSpc>
                <a:spcPts val="1307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约 360 次安装</a:t>
            </a:r>
          </a:p>
          <a:p>
            <a:pPr algn="l">
              <a:lnSpc>
                <a:spcPts val="1307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杠杆：一键安装与代码签名</a:t>
            </a:r>
          </a:p>
        </p:txBody>
      </p:sp>
      <p:sp>
        <p:nvSpPr>
          <p:cNvPr id="37" name="Times"/>
          <p:cNvSpPr txBox="1"/>
          <p:nvPr/>
        </p:nvSpPr>
        <p:spPr>
          <a:xfrm>
            <a:off x="6140196" y="4252079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dirty="0">
                <a:solidFill>
                  <a:srgbClr val="737373"/>
                </a:solidFill>
                <a:latin typeface="Calibri"/>
                <a:ea typeface="Microsoft YaHei"/>
              </a:rPr>
              <a:t>×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253478" y="3661867"/>
            <a:ext cx="0" cy="87698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9" name="Driver 4"/>
          <p:cNvSpPr/>
          <p:nvPr/>
        </p:nvSpPr>
        <p:spPr>
          <a:xfrm>
            <a:off x="6414516" y="3749565"/>
            <a:ext cx="1677924" cy="1261059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0" name="DriverText"/>
          <p:cNvSpPr txBox="1"/>
          <p:nvPr/>
        </p:nvSpPr>
        <p:spPr>
          <a:xfrm>
            <a:off x="6505956" y="3749565"/>
            <a:ext cx="1495044" cy="126105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7 天激活率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  <a:p>
            <a:pPr algn="l">
              <a:lnSpc>
                <a:spcPts val="145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30%</a:t>
            </a:r>
          </a:p>
          <a:p>
            <a:pPr algn="l">
              <a:lnSpc>
                <a:spcPts val="1307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7 天内批准 ≥ 1 条记忆，且 ≥ 2 个 AI 读取过</a:t>
            </a:r>
          </a:p>
          <a:p>
            <a:pPr algn="l">
              <a:lnSpc>
                <a:spcPts val="1307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杠杆：首次体验四步</a:t>
            </a:r>
          </a:p>
        </p:txBody>
      </p:sp>
      <p:sp>
        <p:nvSpPr>
          <p:cNvPr id="41" name="NotInNorthStar"/>
          <p:cNvSpPr txBox="1"/>
          <p:nvPr/>
        </p:nvSpPr>
        <p:spPr>
          <a:xfrm>
            <a:off x="557784" y="5186020"/>
            <a:ext cx="777240" cy="7063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不进北极星</a:t>
            </a:r>
          </a:p>
        </p:txBody>
      </p:sp>
      <p:sp>
        <p:nvSpPr>
          <p:cNvPr id="42" name="Side 1"/>
          <p:cNvSpPr/>
          <p:nvPr/>
        </p:nvSpPr>
        <p:spPr>
          <a:xfrm>
            <a:off x="1426464" y="5186020"/>
            <a:ext cx="2136648" cy="706374"/>
          </a:xfrm>
          <a:prstGeom prst="rect">
            <a:avLst/>
          </a:prstGeom>
          <a:noFill/>
          <a:ln w="9525">
            <a:solidFill>
              <a:srgbClr val="BFBFBF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3" name="SideText"/>
          <p:cNvSpPr txBox="1"/>
          <p:nvPr/>
        </p:nvSpPr>
        <p:spPr>
          <a:xfrm>
            <a:off x="1517904" y="5186020"/>
            <a:ext cx="1953768" cy="7063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dirty="0">
                <a:solidFill>
                  <a:srgbClr val="262626"/>
                </a:solidFill>
                <a:latin typeface="Calibri"/>
                <a:ea typeface="Microsoft YaHei"/>
              </a:rPr>
              <a:t>变现：</a:t>
            </a: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激活→付费 1.5% = 用满 2 个工作空间 15% × 用满后购买 10%</a:t>
            </a:r>
          </a:p>
        </p:txBody>
      </p:sp>
      <p:sp>
        <p:nvSpPr>
          <p:cNvPr id="44" name="Side 2"/>
          <p:cNvSpPr/>
          <p:nvPr/>
        </p:nvSpPr>
        <p:spPr>
          <a:xfrm>
            <a:off x="3691128" y="5186020"/>
            <a:ext cx="2136648" cy="706374"/>
          </a:xfrm>
          <a:prstGeom prst="rect">
            <a:avLst/>
          </a:prstGeom>
          <a:noFill/>
          <a:ln w="9525">
            <a:solidFill>
              <a:srgbClr val="BFBFBF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5" name="SideText"/>
          <p:cNvSpPr txBox="1"/>
          <p:nvPr/>
        </p:nvSpPr>
        <p:spPr>
          <a:xfrm>
            <a:off x="3782568" y="5186020"/>
            <a:ext cx="1953768" cy="7063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dirty="0">
                <a:solidFill>
                  <a:srgbClr val="262626"/>
                </a:solidFill>
                <a:latin typeface="Calibri"/>
                <a:ea typeface="Microsoft YaHei"/>
              </a:rPr>
              <a:t>推荐：</a:t>
            </a: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每个激活用户经模板分享带来新用户 ≥ 0.1</a:t>
            </a:r>
          </a:p>
        </p:txBody>
      </p:sp>
      <p:sp>
        <p:nvSpPr>
          <p:cNvPr id="46" name="Side 3"/>
          <p:cNvSpPr/>
          <p:nvPr/>
        </p:nvSpPr>
        <p:spPr>
          <a:xfrm>
            <a:off x="5955792" y="5186020"/>
            <a:ext cx="2136648" cy="706374"/>
          </a:xfrm>
          <a:prstGeom prst="rect">
            <a:avLst/>
          </a:prstGeom>
          <a:noFill/>
          <a:ln w="9525">
            <a:solidFill>
              <a:srgbClr val="BFBFBF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7" name="SideText"/>
          <p:cNvSpPr txBox="1"/>
          <p:nvPr/>
        </p:nvSpPr>
        <p:spPr>
          <a:xfrm>
            <a:off x="6047232" y="5186020"/>
            <a:ext cx="1953768" cy="7063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dirty="0">
                <a:solidFill>
                  <a:srgbClr val="262626"/>
                </a:solidFill>
                <a:latin typeface="Calibri"/>
                <a:ea typeface="Microsoft YaHei"/>
              </a:rPr>
              <a:t>护栏：</a:t>
            </a: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每周维护记忆的用户比例（只观察）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E9A92FBD-22AC-E7D5-C41E-042271743F0B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05 关键假设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下载率是最大的下行变量：只做到 SaaS 中位数 3.8%，激活用户就从约 110 降</a:t>
            </a:r>
            <a:r>
              <a:rPr lang="zh-CN" altLang="en-US" dirty="0">
                <a:solidFill>
                  <a:srgbClr val="000000"/>
                </a:solidFill>
                <a:latin typeface="Calibri"/>
                <a:ea typeface="Microsoft YaHei"/>
              </a:rPr>
              <a:t>到约 </a:t>
            </a:r>
            <a:r>
              <a:rPr lang="en-US" altLang="zh-CN" dirty="0">
                <a:solidFill>
                  <a:srgbClr val="000000"/>
                </a:solidFill>
                <a:latin typeface="Calibri"/>
                <a:ea typeface="Microsoft YaHei"/>
              </a:rPr>
              <a:t>62</a:t>
            </a: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注：一次只改一个参数，其余保持基准值；除下载率 3.8%（Unbounce SaaS 类中位数）和激活率 36%（Lenny SaaS 均值）外，低值和高值均为假设（估）。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来源：第四章 4.3.5 漏斗；Unbounce, Conversion Benchmark Report 2024；Lenny Rachitsky, What is a good activation rate（2022）；StatCounter（2026-09）。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7" name="Group 1"/>
          <p:cNvSpPr txBox="1"/>
          <p:nvPr/>
        </p:nvSpPr>
        <p:spPr>
          <a:xfrm>
            <a:off x="557784" y="1645920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访客数决定上限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自然内容是唯一没有公开基准的一项，按每周约 950 名访客假设；OMNA 目前在 GitHub 上只有 1 颗星，没有现成的受众。访客只有假设的一半（约 8,200 名）时，激活用户约 73 人；达到冲刺情形的约 27,000 名访客时，约 242 人。这个数要在冲刺 1–2 实测后校准。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" y="3012643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9" name="Group 2"/>
          <p:cNvSpPr txBox="1"/>
          <p:nvPr/>
        </p:nvSpPr>
        <p:spPr>
          <a:xfrm>
            <a:off x="557784" y="3158947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下载率是最大的下行风险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落地页下载率取 Unbounce 对 41,000 个落地页统计的全行业中位数 6.6%；如果 OMNA 只做到 SaaS 类的中位数 3.8%，激活用户就从约 110 降到约 62 人，是五个参数里最大的下行。安装完成率、激活率和 Windows 访客比例在合理范围内变化，对结果的影响都较小。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" y="4525670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1" name="Group 3"/>
          <p:cNvSpPr txBox="1"/>
          <p:nvPr/>
        </p:nvSpPr>
        <p:spPr>
          <a:xfrm>
            <a:off x="557784" y="4671974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目标不改，只调整动作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基准目标本来就取中位数，下行情形仍在 60 人以上，足以读出激活率和留存，所以 8 周目标不改，只调整动作：如果下载率接近 3.8%，先改落地页，再追加合作预算。其余假设各有验证时间（见右下表），在图表底稿中都以黄色底标出，改动之后结果自动重算，实测数据一到就能更新目标。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1645920"/>
            <a:ext cx="5093208" cy="0"/>
          </a:xfrm>
          <a:prstGeom prst="line">
            <a:avLst/>
          </a:prstGeom>
          <a:ln w="6350">
            <a:solidFill>
              <a:srgbClr val="0072BC"/>
            </a:solidFill>
          </a:ln>
        </p:spPr>
      </p:cxnSp>
      <p:sp>
        <p:nvSpPr>
          <p:cNvPr id="13" name="ChartTitle"/>
          <p:cNvSpPr txBox="1"/>
          <p:nvPr/>
        </p:nvSpPr>
        <p:spPr>
          <a:xfrm>
            <a:off x="6537960" y="1719072"/>
            <a:ext cx="5093208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8 周激活用户对各参数的敏感性，人（一次只改一个参数，基准约 110）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graphicFrame>
        <p:nvGraphicFramePr>
          <p:cNvPr id="14" name="Chart tornado"/>
          <p:cNvGraphicFramePr>
            <a:graphicFrameLocks noGrp="1"/>
          </p:cNvGraphicFramePr>
          <p:nvPr/>
        </p:nvGraphicFramePr>
        <p:xfrm>
          <a:off x="6537960" y="1958340"/>
          <a:ext cx="5093208" cy="2339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Note"/>
          <p:cNvSpPr txBox="1"/>
          <p:nvPr/>
        </p:nvSpPr>
        <p:spPr>
          <a:xfrm>
            <a:off x="8806072" y="1994916"/>
            <a:ext cx="731520" cy="1508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基准</a:t>
            </a:r>
          </a:p>
        </p:txBody>
      </p:sp>
      <p:graphicFrame>
        <p:nvGraphicFramePr>
          <p:cNvPr id="16" name="Table assumptions"/>
          <p:cNvGraphicFramePr>
            <a:graphicFrameLocks noGrp="1"/>
          </p:cNvGraphicFramePr>
          <p:nvPr/>
        </p:nvGraphicFramePr>
        <p:xfrm>
          <a:off x="6537960" y="4498848"/>
          <a:ext cx="5093208" cy="1393545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709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假设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取值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何时验证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09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日用户中同时用多个工具的比例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60%（40%–75%）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冲刺 1 访谈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709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自然内容带来的访客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每周约 950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冲刺 1–2 实测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709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安装完成率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70%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冲刺 1 私测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709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用满 2 个工作空间后购买的比例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10%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第 5–8 周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FB0F725-AE22-2279-8D66-F606FC904E5F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06 风险与建议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dirty="0">
                <a:solidFill>
                  <a:srgbClr val="000000"/>
                </a:solidFill>
                <a:latin typeface="Calibri"/>
                <a:ea typeface="Microsoft YaHei"/>
              </a:rPr>
              <a:t>最大风险是平台提供“够用”的免费记忆</a:t>
            </a:r>
            <a:endParaRPr lang="zh-CN" sz="18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注：风险评分为本报告评估（可能性与影响各 1–5 分），依据见第六章表 6-1；其余六项风险的应对与触发线见附录 A6。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来源：Security.org, Password Manager Annual Report 2024（美国成年人，n=1,000）；Data Transfer Initiative 2026；Menlo Ventures 2026；Slack Technologies, Form S-1（2019-04）；CNBC（2019-11-19）。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7" name="Group 1"/>
          <p:cNvSpPr txBox="1"/>
          <p:nvPr/>
        </p:nvSpPr>
        <p:spPr>
          <a:xfrm>
            <a:off x="557784" y="1645920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latin typeface="Calibri"/>
                <a:ea typeface="Microsoft YaHei"/>
              </a:rPr>
              <a:t>风险：平台自有记忆，缺乏跨生态动力</a:t>
            </a:r>
            <a:endParaRPr lang="en-US" altLang="zh-CN" sz="1200" b="1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帮用户带走记忆，就等于帮用户离开：ChatGPT 不提供记忆导出，Claude 和 Gemini 只做单向导入。平台越重视记忆，越不会让记忆流出；而用户同时使用的助手从 2.2 个增至 3.0 个，每家平台的记忆只在自家有效，记忆越来越碎，平台之间的部分只能由中立的第三方来做。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" y="3012643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9" name="Group 2"/>
          <p:cNvSpPr txBox="1"/>
          <p:nvPr/>
        </p:nvSpPr>
        <p:spPr>
          <a:xfrm>
            <a:off x="557784" y="3158947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latin typeface="Calibri"/>
                <a:ea typeface="Microsoft YaHei"/>
              </a:rPr>
              <a:t>密码管理工具提供</a:t>
            </a: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先例：独立产品</a:t>
            </a:r>
            <a:r>
              <a:rPr lang="zh-CN" altLang="en-US" sz="1200" b="1" i="0" dirty="0">
                <a:solidFill>
                  <a:srgbClr val="000000"/>
                </a:solidFill>
                <a:latin typeface="Calibri"/>
                <a:ea typeface="Microsoft YaHei"/>
              </a:rPr>
              <a:t>仍具备生存空间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Google 和 Apple 都免费内置了密码管理，但美国密码管理器用户中仍有 26% 主要使用 LastPass、Bitwarden、1Password，卖点和 OMNA 一样：跨平台和更强的控制。警示是 79% 的用户使用免费产品，平台捆绑压低了付费意愿，所以基础跨工具功能不收费，规模收入寄望 Team 版。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" y="4525670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1" name="Group 3"/>
          <p:cNvSpPr txBox="1"/>
          <p:nvPr/>
        </p:nvSpPr>
        <p:spPr>
          <a:xfrm>
            <a:off x="557784" y="4671974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中立本身不够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Teams 免费捆绑进 Office 365 后，日活跃用户在 2019 年 11 月达到 2,000 万，超过 Slack 同期的 1,200 多万。平台只要捆绑一个“够用”的版本，就能拿走大部分不挑剔的用户。OMNA 要守住跨工具读取、按工作空间隔离和逐条审查，并保持低成本运营，即使增长被压低，也能活到找到自己的人群。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1645920"/>
            <a:ext cx="5093208" cy="0"/>
          </a:xfrm>
          <a:prstGeom prst="line">
            <a:avLst/>
          </a:prstGeom>
          <a:ln w="6350">
            <a:solidFill>
              <a:srgbClr val="0072BC"/>
            </a:solidFill>
          </a:ln>
        </p:spPr>
      </p:cxnSp>
      <p:sp>
        <p:nvSpPr>
          <p:cNvPr id="13" name="ChartTitle"/>
          <p:cNvSpPr txBox="1"/>
          <p:nvPr/>
        </p:nvSpPr>
        <p:spPr>
          <a:xfrm>
            <a:off x="6537960" y="1719072"/>
            <a:ext cx="5093208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风险矩阵：可能性 × 对 OMNA 的影响，1–5 分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graphicFrame>
        <p:nvGraphicFramePr>
          <p:cNvPr id="14" name="Chart risk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32528"/>
              </p:ext>
            </p:extLst>
          </p:nvPr>
        </p:nvGraphicFramePr>
        <p:xfrm>
          <a:off x="6537960" y="1958340"/>
          <a:ext cx="5093208" cy="2796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Note"/>
          <p:cNvSpPr txBox="1"/>
          <p:nvPr/>
        </p:nvSpPr>
        <p:spPr>
          <a:xfrm>
            <a:off x="9912096" y="2775204"/>
            <a:ext cx="1371600" cy="1508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高可能 × 高影响</a:t>
            </a:r>
          </a:p>
        </p:txBody>
      </p:sp>
      <p:sp>
        <p:nvSpPr>
          <p:cNvPr id="16" name="Number"/>
          <p:cNvSpPr txBox="1"/>
          <p:nvPr/>
        </p:nvSpPr>
        <p:spPr>
          <a:xfrm>
            <a:off x="6537960" y="5143043"/>
            <a:ext cx="158800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dirty="0">
                <a:solidFill>
                  <a:srgbClr val="000000"/>
                </a:solidFill>
                <a:latin typeface="Calibri"/>
                <a:ea typeface="Microsoft YaHei"/>
              </a:rPr>
              <a:t>26%</a:t>
            </a:r>
          </a:p>
        </p:txBody>
      </p:sp>
      <p:sp>
        <p:nvSpPr>
          <p:cNvPr id="17" name="NumberNote"/>
          <p:cNvSpPr txBox="1"/>
          <p:nvPr/>
        </p:nvSpPr>
        <p:spPr>
          <a:xfrm>
            <a:off x="6537960" y="5545379"/>
            <a:ext cx="1588008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平台内置后，仍主用三家独立产品的密码管理器用户</a:t>
            </a:r>
          </a:p>
        </p:txBody>
      </p:sp>
      <p:sp>
        <p:nvSpPr>
          <p:cNvPr id="18" name="Number"/>
          <p:cNvSpPr txBox="1"/>
          <p:nvPr/>
        </p:nvSpPr>
        <p:spPr>
          <a:xfrm>
            <a:off x="8235696" y="5143043"/>
            <a:ext cx="158800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dirty="0">
                <a:solidFill>
                  <a:srgbClr val="000000"/>
                </a:solidFill>
                <a:latin typeface="Calibri"/>
                <a:ea typeface="Microsoft YaHei"/>
              </a:rPr>
              <a:t>79%</a:t>
            </a:r>
          </a:p>
        </p:txBody>
      </p:sp>
      <p:sp>
        <p:nvSpPr>
          <p:cNvPr id="19" name="NumberNote"/>
          <p:cNvSpPr txBox="1"/>
          <p:nvPr/>
        </p:nvSpPr>
        <p:spPr>
          <a:xfrm>
            <a:off x="8235696" y="5545379"/>
            <a:ext cx="1588008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密码管理器用户中使用免费产品的比例：基础功能不能收费</a:t>
            </a:r>
          </a:p>
        </p:txBody>
      </p:sp>
      <p:sp>
        <p:nvSpPr>
          <p:cNvPr id="20" name="Number"/>
          <p:cNvSpPr txBox="1"/>
          <p:nvPr/>
        </p:nvSpPr>
        <p:spPr>
          <a:xfrm>
            <a:off x="9933432" y="5143043"/>
            <a:ext cx="158800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dirty="0">
                <a:solidFill>
                  <a:srgbClr val="000000"/>
                </a:solidFill>
                <a:latin typeface="Calibri"/>
                <a:ea typeface="Microsoft YaHei"/>
              </a:rPr>
              <a:t>5 个百分点</a:t>
            </a:r>
          </a:p>
        </p:txBody>
      </p:sp>
      <p:sp>
        <p:nvSpPr>
          <p:cNvPr id="21" name="NumberNote"/>
          <p:cNvSpPr txBox="1"/>
          <p:nvPr/>
        </p:nvSpPr>
        <p:spPr>
          <a:xfrm>
            <a:off x="9933432" y="5545379"/>
            <a:ext cx="1588008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两组 D30 相差超过此线，就重新评估定位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CB59C55-6B16-5852-E386-04A503C96FE5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06 风险与建议</a:t>
            </a:r>
            <a:r>
              <a:rPr lang="zh-CN" sz="1050" b="0" i="0" spc="300" dirty="0">
                <a:solidFill>
                  <a:srgbClr val="8C8C8C"/>
                </a:solidFill>
                <a:latin typeface="Calibri"/>
                <a:ea typeface="Microsoft YaHei"/>
              </a:rPr>
              <a:t> – RISK &amp; RECOMMENDATION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第 8 周依次看激活 30%、D30 留存 30%、用满工作空间 15%，决定加码、调整或暂停</a:t>
            </a: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注：三道关口的过关线取公开基准的中位数；两组 D30 的 5 个百分点为假设，样本小时只看方向，下一个 8 周继续累积。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来源：本报告第四章表 4-7、第六章表 6-5 与 6.4；Notion 做法见 How They Grow（2022-09），Slack 做法见 Form S-1（2019-04）。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7" name="Group 1"/>
          <p:cNvSpPr txBox="1"/>
          <p:nvPr/>
        </p:nvSpPr>
        <p:spPr>
          <a:xfrm>
            <a:off x="8458200" y="1645920"/>
            <a:ext cx="3172968" cy="14601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下一步最值得验证的假设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已经在用平台记忆的多 AI 知识工作者，是否仍会每周在两个以上 AI 中使用 OMNA。它同时检验目标用户（确实跨 AI 工作）、定位（平台之间的记忆有价值）和最大风险（平台记忆没有替代 OMNA）。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58200" y="3256445"/>
            <a:ext cx="3172968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9" name="Group 2"/>
          <p:cNvSpPr txBox="1"/>
          <p:nvPr/>
        </p:nvSpPr>
        <p:spPr>
          <a:xfrm>
            <a:off x="8458200" y="3406826"/>
            <a:ext cx="3172968" cy="9806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不加预算也能读出结果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分组问题加在首次引导里，只在本地记录、随匿名周报汇总；第 4 周首发的用户到第 8 周末正好满 30 天，计划结束时就能读到两组的 D30。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58200" y="4537900"/>
            <a:ext cx="3172968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1" name="Group 3"/>
          <p:cNvSpPr txBox="1"/>
          <p:nvPr/>
        </p:nvSpPr>
        <p:spPr>
          <a:xfrm>
            <a:off x="8458200" y="4688281"/>
            <a:ext cx="3172968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提前准备 8 周之后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Pro 用户中出现 3 个以上同公司用户时，启动 Team 版访谈；冲刺 4 之后从模板分享者中邀请 10–20 人共建行业模板；用开源代码、签名安装包和清楚的隐私说明让信任看得见。</a:t>
            </a:r>
          </a:p>
        </p:txBody>
      </p:sp>
      <p:sp>
        <p:nvSpPr>
          <p:cNvPr id="12" name="Start"/>
          <p:cNvSpPr/>
          <p:nvPr/>
        </p:nvSpPr>
        <p:spPr>
          <a:xfrm>
            <a:off x="557784" y="1645920"/>
            <a:ext cx="2468880" cy="310896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3" name="StartText"/>
          <p:cNvSpPr txBox="1"/>
          <p:nvPr/>
        </p:nvSpPr>
        <p:spPr>
          <a:xfrm>
            <a:off x="557784" y="1645920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第 8 周复盘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792224" y="1956816"/>
            <a:ext cx="0" cy="25908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5" name="Gate 1"/>
          <p:cNvSpPr/>
          <p:nvPr/>
        </p:nvSpPr>
        <p:spPr>
          <a:xfrm>
            <a:off x="557784" y="2215896"/>
            <a:ext cx="2468880" cy="493776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6" name="GateText"/>
          <p:cNvSpPr txBox="1"/>
          <p:nvPr/>
        </p:nvSpPr>
        <p:spPr>
          <a:xfrm>
            <a:off x="630936" y="2215896"/>
            <a:ext cx="232257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7 天激活率 ≥ 30%？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3026664" y="2462784"/>
            <a:ext cx="5943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8" name="No"/>
          <p:cNvSpPr txBox="1"/>
          <p:nvPr/>
        </p:nvSpPr>
        <p:spPr>
          <a:xfrm>
            <a:off x="3099816" y="2289048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否</a:t>
            </a:r>
          </a:p>
        </p:txBody>
      </p:sp>
      <p:sp>
        <p:nvSpPr>
          <p:cNvPr id="19" name="Result 1"/>
          <p:cNvSpPr/>
          <p:nvPr/>
        </p:nvSpPr>
        <p:spPr>
          <a:xfrm>
            <a:off x="3621024" y="2103120"/>
            <a:ext cx="4471416" cy="719328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0" name="ResultText"/>
          <p:cNvSpPr txBox="1"/>
          <p:nvPr/>
        </p:nvSpPr>
        <p:spPr>
          <a:xfrm>
            <a:off x="3730752" y="2103120"/>
            <a:ext cx="4251960" cy="719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激活不过关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  <a:p>
            <a:pPr algn="l">
              <a:lnSpc>
                <a:spcPts val="1307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首次体验或目标用户有问题</a:t>
            </a:r>
          </a:p>
          <a:p>
            <a:pPr algn="l">
              <a:lnSpc>
                <a:spcPts val="1452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回到访谈结论，修首次体验或调整首要 ICP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92224" y="2709672"/>
            <a:ext cx="0" cy="371856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2" name="Yes"/>
          <p:cNvSpPr txBox="1"/>
          <p:nvPr/>
        </p:nvSpPr>
        <p:spPr>
          <a:xfrm>
            <a:off x="1865376" y="2822448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是</a:t>
            </a:r>
          </a:p>
        </p:txBody>
      </p:sp>
      <p:sp>
        <p:nvSpPr>
          <p:cNvPr id="23" name="Gate 2"/>
          <p:cNvSpPr/>
          <p:nvPr/>
        </p:nvSpPr>
        <p:spPr>
          <a:xfrm>
            <a:off x="557784" y="3081528"/>
            <a:ext cx="2468880" cy="493776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4" name="GateText"/>
          <p:cNvSpPr txBox="1"/>
          <p:nvPr/>
        </p:nvSpPr>
        <p:spPr>
          <a:xfrm>
            <a:off x="630936" y="3081528"/>
            <a:ext cx="232257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D30 留存 ≥ 30%？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026664" y="3328416"/>
            <a:ext cx="5943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6" name="No"/>
          <p:cNvSpPr txBox="1"/>
          <p:nvPr/>
        </p:nvSpPr>
        <p:spPr>
          <a:xfrm>
            <a:off x="3099816" y="3154680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否</a:t>
            </a:r>
          </a:p>
        </p:txBody>
      </p:sp>
      <p:sp>
        <p:nvSpPr>
          <p:cNvPr id="27" name="Result 2"/>
          <p:cNvSpPr/>
          <p:nvPr/>
        </p:nvSpPr>
        <p:spPr>
          <a:xfrm>
            <a:off x="3621024" y="2968752"/>
            <a:ext cx="4471416" cy="719328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8" name="ResultText"/>
          <p:cNvSpPr txBox="1"/>
          <p:nvPr/>
        </p:nvSpPr>
        <p:spPr>
          <a:xfrm>
            <a:off x="3730752" y="2968752"/>
            <a:ext cx="4251960" cy="719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激活过关，留存不过关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  <a:p>
            <a:pPr algn="l">
              <a:lnSpc>
                <a:spcPts val="1307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用户试了但没留下</a:t>
            </a:r>
          </a:p>
          <a:p>
            <a:pPr algn="l">
              <a:lnSpc>
                <a:spcPts val="1452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暂停渠道投入，集中优化自动读取记忆和记忆过期规则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92224" y="3575304"/>
            <a:ext cx="0" cy="371856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0" name="Yes"/>
          <p:cNvSpPr txBox="1"/>
          <p:nvPr/>
        </p:nvSpPr>
        <p:spPr>
          <a:xfrm>
            <a:off x="1865376" y="36880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是</a:t>
            </a:r>
          </a:p>
        </p:txBody>
      </p:sp>
      <p:sp>
        <p:nvSpPr>
          <p:cNvPr id="31" name="Gate 3"/>
          <p:cNvSpPr/>
          <p:nvPr/>
        </p:nvSpPr>
        <p:spPr>
          <a:xfrm>
            <a:off x="557784" y="3947160"/>
            <a:ext cx="2468880" cy="493776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2" name="GateText"/>
          <p:cNvSpPr txBox="1"/>
          <p:nvPr/>
        </p:nvSpPr>
        <p:spPr>
          <a:xfrm>
            <a:off x="630936" y="3947160"/>
            <a:ext cx="232257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用满 2 个工作空间的激活用户 ≥ 15%？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3026664" y="4194048"/>
            <a:ext cx="5943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4" name="No"/>
          <p:cNvSpPr txBox="1"/>
          <p:nvPr/>
        </p:nvSpPr>
        <p:spPr>
          <a:xfrm>
            <a:off x="3099816" y="4020312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否</a:t>
            </a:r>
          </a:p>
        </p:txBody>
      </p:sp>
      <p:sp>
        <p:nvSpPr>
          <p:cNvPr id="35" name="Result 3"/>
          <p:cNvSpPr/>
          <p:nvPr/>
        </p:nvSpPr>
        <p:spPr>
          <a:xfrm>
            <a:off x="3621024" y="3834384"/>
            <a:ext cx="4471416" cy="719328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6" name="ResultText"/>
          <p:cNvSpPr txBox="1"/>
          <p:nvPr/>
        </p:nvSpPr>
        <p:spPr>
          <a:xfrm>
            <a:off x="3730752" y="3834384"/>
            <a:ext cx="4251960" cy="719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262626"/>
                </a:solidFill>
                <a:latin typeface="Calibri"/>
                <a:ea typeface="Microsoft YaHei"/>
              </a:rPr>
              <a:t>激活和留存过关，“用满”不过关</a:t>
            </a:r>
            <a:endParaRPr lang="zh-CN" sz="1100" b="0" i="0" dirty="0">
              <a:solidFill>
                <a:srgbClr val="262626"/>
              </a:solidFill>
              <a:latin typeface="Calibri"/>
              <a:ea typeface="Microsoft YaHei"/>
            </a:endParaRPr>
          </a:p>
          <a:p>
            <a:pPr algn="l">
              <a:lnSpc>
                <a:spcPts val="1307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用户愿意用，但不需要更多空间</a:t>
            </a:r>
          </a:p>
          <a:p>
            <a:pPr algn="l">
              <a:lnSpc>
                <a:spcPts val="1452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继续有效的合作渠道，调整免费额度或 Pro 内容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792224" y="4440936"/>
            <a:ext cx="0" cy="25908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8" name="Yes"/>
          <p:cNvSpPr txBox="1"/>
          <p:nvPr/>
        </p:nvSpPr>
        <p:spPr>
          <a:xfrm>
            <a:off x="1865376" y="4497324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是</a:t>
            </a:r>
          </a:p>
        </p:txBody>
      </p:sp>
      <p:sp>
        <p:nvSpPr>
          <p:cNvPr id="39" name="Outcome"/>
          <p:cNvSpPr/>
          <p:nvPr/>
        </p:nvSpPr>
        <p:spPr>
          <a:xfrm>
            <a:off x="557784" y="4700016"/>
            <a:ext cx="7534656" cy="477164"/>
          </a:xfrm>
          <a:prstGeom prst="rect">
            <a:avLst/>
          </a:prstGeom>
          <a:noFill/>
          <a:ln w="9525">
            <a:solidFill>
              <a:srgbClr val="0072B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0" name="OutcomeText"/>
          <p:cNvSpPr txBox="1"/>
          <p:nvPr/>
        </p:nvSpPr>
        <p:spPr>
          <a:xfrm>
            <a:off x="667512" y="4700016"/>
            <a:ext cx="1600200" cy="4771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72BC"/>
                </a:solidFill>
                <a:latin typeface="Calibri"/>
                <a:ea typeface="Microsoft YaHei"/>
              </a:rPr>
              <a:t>三关都过</a:t>
            </a:r>
            <a:endParaRPr lang="zh-CN" sz="1100" b="0" i="0" dirty="0">
              <a:solidFill>
                <a:srgbClr val="0072BC"/>
              </a:solidFill>
              <a:latin typeface="Calibri"/>
              <a:ea typeface="Microsoft YaHei"/>
            </a:endParaRPr>
          </a:p>
        </p:txBody>
      </p:sp>
      <p:sp>
        <p:nvSpPr>
          <p:cNvPr id="41" name="OutcomeText"/>
          <p:cNvSpPr txBox="1"/>
          <p:nvPr/>
        </p:nvSpPr>
        <p:spPr>
          <a:xfrm>
            <a:off x="2267712" y="4700016"/>
            <a:ext cx="1600200" cy="4771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0072BC"/>
                </a:solidFill>
                <a:latin typeface="Calibri"/>
                <a:ea typeface="Microsoft YaHei"/>
              </a:rPr>
              <a:t>滩头成立</a:t>
            </a:r>
          </a:p>
        </p:txBody>
      </p:sp>
      <p:sp>
        <p:nvSpPr>
          <p:cNvPr id="42" name="OutcomeText"/>
          <p:cNvSpPr txBox="1"/>
          <p:nvPr/>
        </p:nvSpPr>
        <p:spPr>
          <a:xfrm>
            <a:off x="3867912" y="4700016"/>
            <a:ext cx="4114800" cy="4771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0072BC"/>
                </a:solidFill>
                <a:latin typeface="Calibri"/>
                <a:ea typeface="Microsoft YaHei"/>
              </a:rPr>
              <a:t>加大有效的合作渠道；启动 Mac 版；为 Team 版做访谈</a:t>
            </a:r>
          </a:p>
        </p:txBody>
      </p:sp>
      <p:sp>
        <p:nvSpPr>
          <p:cNvPr id="43" name="Parallel"/>
          <p:cNvSpPr/>
          <p:nvPr/>
        </p:nvSpPr>
        <p:spPr>
          <a:xfrm>
            <a:off x="557784" y="5305196"/>
            <a:ext cx="7534656" cy="603504"/>
          </a:xfrm>
          <a:prstGeom prst="rect">
            <a:avLst/>
          </a:prstGeom>
          <a:noFill/>
          <a:ln w="9525">
            <a:solidFill>
              <a:srgbClr val="BFBFBF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4" name="ParallelText"/>
          <p:cNvSpPr txBox="1"/>
          <p:nvPr/>
        </p:nvSpPr>
        <p:spPr>
          <a:xfrm>
            <a:off x="667512" y="5305196"/>
            <a:ext cx="7315200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dirty="0">
                <a:solidFill>
                  <a:srgbClr val="262626"/>
                </a:solidFill>
                <a:latin typeface="Calibri"/>
                <a:ea typeface="Microsoft YaHei"/>
              </a:rPr>
              <a:t>同时读出平台记忆分组：</a:t>
            </a: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按首次引导的回答，把用户分为“开启 / 未开启平台记忆”两组比较 D30 留存；开启组低 5 个百分点以上 → 重新评估定位，主打从“跨工具”转向“按客户隔离与审查”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01834D95-EAC1-75C9-E5A1-03507E173044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spc="150" dirty="0">
                <a:solidFill>
                  <a:srgbClr val="BFBFBF"/>
                </a:solidFill>
                <a:latin typeface="Calibri"/>
                <a:ea typeface="Microsoft YaHei"/>
              </a:rPr>
              <a:t>附录</a:t>
            </a:r>
            <a:r>
              <a:rPr lang="zh-CN" sz="1600" b="0" i="0" spc="300" dirty="0">
                <a:solidFill>
                  <a:srgbClr val="BFBFBF"/>
                </a:solidFill>
                <a:latin typeface="Calibri"/>
                <a:ea typeface="Microsoft YaHei"/>
              </a:rPr>
              <a:t> – APPENDIX</a:t>
            </a:r>
            <a:endParaRPr lang="zh-CN" sz="16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3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8C8C8C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附录</a:t>
            </a:r>
            <a:r>
              <a:rPr lang="zh-CN" sz="1050" b="0" i="0" spc="300" dirty="0">
                <a:solidFill>
                  <a:srgbClr val="8C8C8C"/>
                </a:solidFill>
                <a:latin typeface="Calibri"/>
                <a:ea typeface="Microsoft YaHei"/>
              </a:rPr>
              <a:t> – APPENDIX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附录 A1：自下而上估算，中档 TAM 约 4,050 万、SAM 约 210 万，高低两档相差约 25 倍</a:t>
            </a:r>
          </a:p>
        </p:txBody>
      </p:sp>
      <p:sp>
        <p:nvSpPr>
          <p:cNvPr id="4" name="Footnote"/>
          <p:cNvSpPr txBox="1"/>
          <p:nvPr/>
        </p:nvSpPr>
        <p:spPr>
          <a:xfrm>
            <a:off x="557784" y="6199632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注：全表为本报告估算（估）；中间一步“目标职业中的多工具日用户”（低 / 中 / 高 = 1.40 / 3.32 / 8.73 百万人）为节省版面未列，见底稿“图2-5”；黄色底假设在图表底稿“图2-5”中可改，结果自动重算。第 3 年 ARR = 3 年累计付费用户 ÷ 3 ×（1 + 留存 + 留存²）× 年客单价。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来源：US Census Bureau, Vintage 2025；Menlo Ventures 2026；US BLS OEWS（2025-05）；Gallup 2025 Q4；StatCounter（2026-09）；RevenueCat 2026；ChartMogul 2026；OpenView 2022。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17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graphicFrame>
        <p:nvGraphicFramePr>
          <p:cNvPr id="7" name="Table sizing"/>
          <p:cNvGraphicFramePr>
            <a:graphicFrameLocks noGrp="1"/>
          </p:cNvGraphicFramePr>
          <p:nvPr/>
        </p:nvGraphicFramePr>
        <p:xfrm>
          <a:off x="557784" y="1645920"/>
          <a:ext cx="11073384" cy="301828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12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参数 / 结果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低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中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高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依据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美国 18 岁以上人口（百万）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269.8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269.8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269.8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US Census 2025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每天使用 AI 的比例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Menlo 2026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日用户中同时使用多个工具的比例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40%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60%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75%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假设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目标职业从业者（百万）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29.1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29.1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29.1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BLS OEWS 2025，六类职业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其中经常在工作中使用 AI 的比例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12%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19%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40%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Gallup 2025 Q4：低 = 全体员工每天 / 中 = 可远程岗位每天 / 高 = 可远程岗位每周多次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使用 Windows 的比例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64.5%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64.5%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64.5%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StatCounter 2026-09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付费转化率（激活用户 → 付费）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3%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5%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RevenueCat、ChartMogul、OpenView 基准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年客单价（美元）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48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72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96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Pro $8/月，年付 $72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付费用户年留存率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28%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28%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28%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RevenueCat 2026：年付订阅首年约 72% 取消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3 年累计激活用户占 SAM 的份额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0.5%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1%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2%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假设</a:t>
                      </a: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TAM：多工具 AI 日用户（百万人）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27.0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40.5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50.6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000" b="0" i="0" dirty="0">
                        <a:solidFill>
                          <a:srgbClr val="262626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SAM：目标职业中的多工具 Windows 用户（百万人）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0.90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2.14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5.63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000" b="0" i="0" dirty="0">
                        <a:solidFill>
                          <a:srgbClr val="262626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其中首要 ICP：管理、商业与金融（百万人）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0.67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1.59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4.19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000" b="0" i="0" dirty="0">
                        <a:solidFill>
                          <a:srgbClr val="262626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SOM：3 年累计激活用户（千人）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4.5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21.4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112.6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000" b="0" i="0" dirty="0">
                        <a:solidFill>
                          <a:srgbClr val="262626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SOM：3 年累计付费用户（千人）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0.09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0.64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5.63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000" b="0" i="0" dirty="0">
                        <a:solidFill>
                          <a:srgbClr val="262626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7546"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SOM：第 3 年 ARR，计入退订（千美元）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21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245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000" b="0" i="0" dirty="0">
                        <a:solidFill>
                          <a:srgbClr val="262626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9144" marB="9144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Column 1"/>
          <p:cNvSpPr txBox="1"/>
          <p:nvPr/>
        </p:nvSpPr>
        <p:spPr>
          <a:xfrm>
            <a:off x="557784" y="4810506"/>
            <a:ext cx="351129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方法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先从 2.7 亿美国成年人中筛出每天使用多个 AI 的人，得到 TAM；再在六类目标职业中筛出经常在工作中用 AI、同时用多个工具、使用 Windows 的人，得到 SAM。</a:t>
            </a:r>
          </a:p>
        </p:txBody>
      </p:sp>
      <p:sp>
        <p:nvSpPr>
          <p:cNvPr id="9" name="Column 1"/>
          <p:cNvSpPr txBox="1"/>
          <p:nvPr/>
        </p:nvSpPr>
        <p:spPr>
          <a:xfrm>
            <a:off x="4338828" y="4810506"/>
            <a:ext cx="351129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为什么相差约 25 倍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主要来自两个参数：经常在工作中用 AI 的比例（12% 到 40%）和没有公开数据的多工具比例（40% 到 75%）。所以结论是“小而深”，短期不依赖规模收入，多工具比例由冲刺 1 访谈先校准。</a:t>
            </a:r>
          </a:p>
        </p:txBody>
      </p:sp>
      <p:sp>
        <p:nvSpPr>
          <p:cNvPr id="10" name="Column 1"/>
          <p:cNvSpPr txBox="1"/>
          <p:nvPr/>
        </p:nvSpPr>
        <p:spPr>
          <a:xfrm>
            <a:off x="8119872" y="4810506"/>
            <a:ext cx="351129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交叉参照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MemoryPlugin 和 AI Context Flow 官网公布的用户数分别为 6,375 和 4,000 多，与中档估算处于同一量级。SAM 没有按是否会配置 MCP 筛选，所以一键安装是进入这个市场的前提。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6B0DA26-D751-73D8-CE14-C752952CE19A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附录</a:t>
            </a:r>
            <a:r>
              <a:rPr lang="zh-CN" sz="1050" b="0" i="0" spc="300" dirty="0">
                <a:solidFill>
                  <a:srgbClr val="8C8C8C"/>
                </a:solidFill>
                <a:latin typeface="Calibri"/>
                <a:ea typeface="Microsoft YaHei"/>
              </a:rPr>
              <a:t> – APPENDIX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附录 A2：AI 记忆的六个战场几乎都面向企业和开发者，消费端跨工具记忆是第七类</a:t>
            </a: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注：前六类改编自 Maheshwari 的市场地图，融资阶段引自原文；第七类为本报告补充。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来源：Rishi Maheshwari, Who Owns Memory? The Market Map for AI Agents’ Missing State Layer（2026-06-08）；The Deep Feed, Agent-memory funding（2026-06-12）。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18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7" name="Group 1"/>
          <p:cNvSpPr txBox="1"/>
          <p:nvPr/>
        </p:nvSpPr>
        <p:spPr>
          <a:xfrm>
            <a:off x="8458200" y="1645920"/>
            <a:ext cx="3172968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资本集中在企业端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记忆赛道的主要融资都是 B2B，例如 Mem0 和 Jedify 各 2,400 万美元的 A 轮。前六类几乎都面向企业和开发者，OMNA 的直接竞品属于另一类：面向个人、跨多个 AI 工具。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58200" y="3082595"/>
            <a:ext cx="3172968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9" name="Group 2"/>
          <p:cNvSpPr txBox="1"/>
          <p:nvPr/>
        </p:nvSpPr>
        <p:spPr>
          <a:xfrm>
            <a:off x="8458200" y="3298850"/>
            <a:ext cx="3172968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消费端被普遍看衰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Maheshwari 认为消费端记忆“几乎肯定会被捆绑进 ChatGPT、Claude 和 Copilot”；The Deep Feed 也把“用户个性化”列为护城河最低的方向。正文第 14 页正面回答这一质疑。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58200" y="4735525"/>
            <a:ext cx="3172968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1" name="Group 3"/>
          <p:cNvSpPr txBox="1"/>
          <p:nvPr/>
        </p:nvSpPr>
        <p:spPr>
          <a:xfrm>
            <a:off x="8458200" y="4951781"/>
            <a:ext cx="3172968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胜负在写入环节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谁决定什么值得记、归哪一类、谁能看、有什么证据、何时过期。OMNA 的“AI 提议、用户批准、记录来源、按工作空间授权”回答了前四个问题，这是它的核心竞争力。</a:t>
            </a:r>
          </a:p>
        </p:txBody>
      </p:sp>
      <p:sp>
        <p:nvSpPr>
          <p:cNvPr id="12" name="GroupNote"/>
          <p:cNvSpPr txBox="1"/>
          <p:nvPr/>
        </p:nvSpPr>
        <p:spPr>
          <a:xfrm>
            <a:off x="557784" y="1645920"/>
            <a:ext cx="7534656" cy="1508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面向企业与开发者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" y="1824228"/>
            <a:ext cx="753465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4" name="Map 1"/>
          <p:cNvSpPr/>
          <p:nvPr/>
        </p:nvSpPr>
        <p:spPr>
          <a:xfrm>
            <a:off x="557784" y="1860804"/>
            <a:ext cx="1787652" cy="1966112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5" name="MapText"/>
          <p:cNvSpPr txBox="1"/>
          <p:nvPr/>
        </p:nvSpPr>
        <p:spPr>
          <a:xfrm>
            <a:off x="658368" y="1952244"/>
            <a:ext cx="1586484" cy="1783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记忆原生创业公司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518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Mem0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（A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Zep / Graphiti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（种子轮）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Letta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（种子轮）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Cognee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（种子轮）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Interloom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（种子轮）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Supermemory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（种子轮）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ByteRover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（早期）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OpenClaw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（已被收购）</a:t>
            </a:r>
          </a:p>
        </p:txBody>
      </p:sp>
      <p:sp>
        <p:nvSpPr>
          <p:cNvPr id="16" name="Map 2"/>
          <p:cNvSpPr/>
          <p:nvPr/>
        </p:nvSpPr>
        <p:spPr>
          <a:xfrm>
            <a:off x="2473452" y="1860804"/>
            <a:ext cx="1787652" cy="1966112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7" name="MapText"/>
          <p:cNvSpPr txBox="1"/>
          <p:nvPr/>
        </p:nvSpPr>
        <p:spPr>
          <a:xfrm>
            <a:off x="2574036" y="1952244"/>
            <a:ext cx="1586484" cy="1783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企业共享上下文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518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Glean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（F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Dust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（B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Hebbia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（B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Contextual AI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（A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Writer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（C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Sana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（已被收购）</a:t>
            </a:r>
          </a:p>
        </p:txBody>
      </p:sp>
      <p:sp>
        <p:nvSpPr>
          <p:cNvPr id="18" name="Map 3"/>
          <p:cNvSpPr/>
          <p:nvPr/>
        </p:nvSpPr>
        <p:spPr>
          <a:xfrm>
            <a:off x="4389120" y="1860804"/>
            <a:ext cx="1787652" cy="1966112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9" name="MapText"/>
          <p:cNvSpPr txBox="1"/>
          <p:nvPr/>
        </p:nvSpPr>
        <p:spPr>
          <a:xfrm>
            <a:off x="4489704" y="1952244"/>
            <a:ext cx="1586484" cy="1783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应用场景采集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518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Granola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（C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Read AI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（B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Fireflies.ai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（A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Otter.ai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（B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Limitless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（已被 Meta 收购）</a:t>
            </a:r>
          </a:p>
        </p:txBody>
      </p:sp>
      <p:sp>
        <p:nvSpPr>
          <p:cNvPr id="20" name="Map 4"/>
          <p:cNvSpPr/>
          <p:nvPr/>
        </p:nvSpPr>
        <p:spPr>
          <a:xfrm>
            <a:off x="6304788" y="1860804"/>
            <a:ext cx="1787652" cy="1966112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1" name="MapText"/>
          <p:cNvSpPr txBox="1"/>
          <p:nvPr/>
        </p:nvSpPr>
        <p:spPr>
          <a:xfrm>
            <a:off x="6405372" y="1952244"/>
            <a:ext cx="1586484" cy="1783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Agent 框架与运行时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518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LangChain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（B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LlamaIndex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（A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CrewAI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（B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Semantic Kernel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（微软）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OpenAI Agents SDK</a:t>
            </a:r>
            <a:b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</a:b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（平台运行时）</a:t>
            </a:r>
          </a:p>
        </p:txBody>
      </p:sp>
      <p:sp>
        <p:nvSpPr>
          <p:cNvPr id="22" name="GroupNote"/>
          <p:cNvSpPr txBox="1"/>
          <p:nvPr/>
        </p:nvSpPr>
        <p:spPr>
          <a:xfrm>
            <a:off x="557784" y="3991508"/>
            <a:ext cx="4980432" cy="1508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面向企业与开发者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7784" y="4169816"/>
            <a:ext cx="4980432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4" name="GroupNote"/>
          <p:cNvSpPr txBox="1"/>
          <p:nvPr/>
        </p:nvSpPr>
        <p:spPr>
          <a:xfrm>
            <a:off x="5666232" y="3991508"/>
            <a:ext cx="2426208" cy="1508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面向个人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6232" y="4169816"/>
            <a:ext cx="2426208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6" name="Map 5"/>
          <p:cNvSpPr/>
          <p:nvPr/>
        </p:nvSpPr>
        <p:spPr>
          <a:xfrm>
            <a:off x="557784" y="4206392"/>
            <a:ext cx="2426208" cy="1976171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7" name="MapText"/>
          <p:cNvSpPr txBox="1"/>
          <p:nvPr/>
        </p:nvSpPr>
        <p:spPr>
          <a:xfrm>
            <a:off x="658368" y="4297832"/>
            <a:ext cx="2225040" cy="179329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检索与数据底座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518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Chroma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（种子轮）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Pinecone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（B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Qdrant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（B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Weaviate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（B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LanceDB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（A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Zilliz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（C 轮）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Unstructured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（B 轮）</a:t>
            </a:r>
          </a:p>
        </p:txBody>
      </p:sp>
      <p:sp>
        <p:nvSpPr>
          <p:cNvPr id="28" name="Map 6"/>
          <p:cNvSpPr/>
          <p:nvPr/>
        </p:nvSpPr>
        <p:spPr>
          <a:xfrm>
            <a:off x="3112008" y="4206392"/>
            <a:ext cx="2426208" cy="1976171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9" name="MapText"/>
          <p:cNvSpPr txBox="1"/>
          <p:nvPr/>
        </p:nvSpPr>
        <p:spPr>
          <a:xfrm>
            <a:off x="3212592" y="4297832"/>
            <a:ext cx="2225040" cy="179329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平台巨头（含自带记忆）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518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OpenAI / ChatGPT 记忆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Anthropic / Claude 记忆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Google / Gemini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Microsoft / Copilot Memory、Recall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AWS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Meta</a:t>
            </a:r>
          </a:p>
        </p:txBody>
      </p:sp>
      <p:sp>
        <p:nvSpPr>
          <p:cNvPr id="30" name="Map 7"/>
          <p:cNvSpPr/>
          <p:nvPr/>
        </p:nvSpPr>
        <p:spPr>
          <a:xfrm>
            <a:off x="5666232" y="4206392"/>
            <a:ext cx="2426208" cy="1976171"/>
          </a:xfrm>
          <a:prstGeom prst="rect">
            <a:avLst/>
          </a:prstGeom>
          <a:noFill/>
          <a:ln w="9525">
            <a:solidFill>
              <a:srgbClr val="0072B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1" name="MapText"/>
          <p:cNvSpPr txBox="1"/>
          <p:nvPr/>
        </p:nvSpPr>
        <p:spPr>
          <a:xfrm>
            <a:off x="5766816" y="4297832"/>
            <a:ext cx="2225040" cy="179329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72BC"/>
                </a:solidFill>
                <a:latin typeface="Calibri"/>
                <a:ea typeface="Microsoft YaHei"/>
              </a:rPr>
              <a:t>消费端跨工具个人记忆</a:t>
            </a:r>
            <a:br>
              <a:rPr lang="zh-CN" sz="1100" b="0" i="0" dirty="0">
                <a:solidFill>
                  <a:srgbClr val="262626"/>
                </a:solidFill>
                <a:latin typeface="Calibri"/>
                <a:ea typeface="Microsoft YaHei"/>
              </a:rPr>
            </a:br>
            <a:r>
              <a:rPr lang="zh-CN" sz="1100" b="1" i="0" dirty="0">
                <a:solidFill>
                  <a:srgbClr val="0072BC"/>
                </a:solidFill>
                <a:latin typeface="Calibri"/>
                <a:ea typeface="Microsoft YaHei"/>
              </a:rPr>
              <a:t>（本报告补充）</a:t>
            </a:r>
            <a:endParaRPr lang="zh-CN" sz="1100" b="0" i="0" dirty="0">
              <a:solidFill>
                <a:srgbClr val="0072BC"/>
              </a:solidFill>
              <a:latin typeface="Calibri"/>
              <a:ea typeface="Microsoft YaHei"/>
            </a:endParaRPr>
          </a:p>
          <a:p>
            <a:pPr algn="l">
              <a:lnSpc>
                <a:spcPts val="1518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1" i="0" dirty="0">
                <a:solidFill>
                  <a:srgbClr val="0072BC"/>
                </a:solidFill>
                <a:latin typeface="Calibri"/>
                <a:ea typeface="Microsoft YaHei"/>
              </a:rPr>
              <a:t>OMNA（开源）</a:t>
            </a:r>
            <a:endParaRPr lang="zh-CN" sz="1000" b="0" i="0" dirty="0">
              <a:solidFill>
                <a:srgbClr val="0072BC"/>
              </a:solidFill>
              <a:latin typeface="Calibri"/>
              <a:ea typeface="Microsoft YaHei"/>
            </a:endParaRP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MemoryPlugin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AI Context Flow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Unabyss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MemoryBase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Basic Memory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dirty="0">
                <a:solidFill>
                  <a:srgbClr val="262626"/>
                </a:solidFill>
                <a:latin typeface="Calibri"/>
                <a:ea typeface="Microsoft YaHei"/>
              </a:rPr>
              <a:t>Supermemory 个人版</a:t>
            </a: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（种子轮）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48C9E67-4CA9-0E3D-DC82-E52121154968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附录</a:t>
            </a:r>
            <a:r>
              <a:rPr lang="zh-CN" sz="1050" b="0" i="0" spc="300" dirty="0">
                <a:solidFill>
                  <a:srgbClr val="8C8C8C"/>
                </a:solidFill>
                <a:latin typeface="Calibri"/>
                <a:ea typeface="Microsoft YaHei"/>
              </a:rPr>
              <a:t> – APPENDIX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附录 A3：12 款核心产品中，没有一家竞品提供本地存储的付费方案</a:t>
            </a: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注：OMNA 价格为本报告建议（第三章表 3-5），第二章原表写作“开源免费 / 尚未定价”。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来源：各产品官网定价页与官方文档（2026-10-03 访问）；Product Hunt 产品页；Hacker News 官方搜索 API（2026-10-03 获取）。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19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graphicFrame>
        <p:nvGraphicFramePr>
          <p:cNvPr id="7" name="Table competitors"/>
          <p:cNvGraphicFramePr>
            <a:graphicFrameLocks noGrp="1"/>
          </p:cNvGraphicFramePr>
          <p:nvPr/>
        </p:nvGraphicFramePr>
        <p:xfrm>
          <a:off x="557784" y="1645920"/>
          <a:ext cx="11073384" cy="3344419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7263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产品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类别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跨工具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数据位置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写入是否需用户批准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入门价格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商业模式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ChatGPT 记忆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平台内置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否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OpenAI 云端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否，自动保存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免费版有限额；Plus $20/月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订阅捆绑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Claude 记忆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平台内置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否（可导入导出）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Anthropic 云端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部分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免费；Pro $20/月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订阅捆绑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Claude Code 记忆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编程 Agent 内置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否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本地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否，默认自动写入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随 Claude 订阅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订阅捆绑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Microsoft Recall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系统级记忆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否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本地加密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开启后自动截屏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需 Copilot+ PC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硬件捆绑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Mem0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开发者记忆层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是（开发者集成）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云端 / 自托管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否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$19/月起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API 订阅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Supermemory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开发者记忆层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是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云端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否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$19/月起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API 订阅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Basic Memory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本地知识库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是（MCP）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本地文件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否，AI 直接写入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开源免费；云版 $15/月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开源 + 云服务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MemoryPlugin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跨工具个人记忆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是（21+ 工具）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云端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否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$89/年（约 $7.4/月）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订阅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AI Context Flow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跨工具个人记忆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是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云端（加密）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部分，按 AI 授权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免费；$99/年（约 $8.3/月）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免费 + 订阅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MemoryBase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跨工具个人记忆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是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云端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未说明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免费；$108/年（约 $9/月）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免费 + 订阅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Unabyss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跨工具个人记忆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是（MCP）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云端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部分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有免费版；付费价未公开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免费 + 订阅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OMNA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跨工具个人记忆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是（6 个客户端）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本地，离线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是，AI 只能提议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Free；Pro $8/月或 $72/年（建议）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免费 + 订阅（建议）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Column 1"/>
          <p:cNvSpPr txBox="1"/>
          <p:nvPr/>
        </p:nvSpPr>
        <p:spPr>
          <a:xfrm>
            <a:off x="557784" y="5191506"/>
            <a:ext cx="5358384" cy="9806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价格：消费级集中在每月 $7–9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消费级跨工具产品以年付为主，都提供免费版或试用；面向开发者的 Mem0 和 Supermemory 起价 $19/月，按 API 用量计费。OMNA 的定价锚点因此略低于同类产品。</a:t>
            </a:r>
          </a:p>
        </p:txBody>
      </p:sp>
      <p:sp>
        <p:nvSpPr>
          <p:cNvPr id="9" name="Column 1"/>
          <p:cNvSpPr txBox="1"/>
          <p:nvPr/>
        </p:nvSpPr>
        <p:spPr>
          <a:xfrm>
            <a:off x="6272784" y="5191506"/>
            <a:ext cx="5358384" cy="9806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首发：Product Hunt 是验证过的渠道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同类产品普遍在 Product Hunt 首发，多数拿到当日第 1，票数在 400–700 之间。但 AI 类 Show HN 中“记忆”项目占比已是两年前的 3 倍以上，首发必须讲清“本地存储 + 用户把关”。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2A84200-82F0-2562-5F72-A77D5E8A5A16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附录</a:t>
            </a:r>
            <a:r>
              <a:rPr lang="zh-CN" sz="1050" b="0" i="0" spc="300" dirty="0">
                <a:solidFill>
                  <a:srgbClr val="8C8C8C"/>
                </a:solidFill>
                <a:latin typeface="Calibri"/>
                <a:ea typeface="Microsoft YaHei"/>
              </a:rPr>
              <a:t> – APPENDIX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附录 A4：约 12,000 名访客按渠道逐项估算，自然内容是唯一没有公开基准的一项</a:t>
            </a: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注：全表为本报告估算（估）；Mac 访客进入等候名单，手机访客可把下载链接发到邮箱。计算过程见图表底稿“图4-6”B 部分。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来源：Influencer Marketing Hub（2026-08）；influencerfee.com（二手汇总）；beehiiv（2025）；shno.co（二手汇总）；WordStream 2025；Unbounce 2024；StatCounter（2026-09）；Lenny Rachitsky（2022）。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20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graphicFrame>
        <p:nvGraphicFramePr>
          <p:cNvPr id="7" name="Table visitors"/>
          <p:cNvGraphicFramePr>
            <a:graphicFrameLocks noGrp="1"/>
          </p:cNvGraphicFramePr>
          <p:nvPr/>
        </p:nvGraphicFramePr>
        <p:xfrm>
          <a:off x="557784" y="1645920"/>
          <a:ext cx="11073384" cy="30403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0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902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渠道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基准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冲刺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估算依据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YouTube 创作者合作（约 $4,000）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2,700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5,900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赞助 CPM $15–30（Influencer Marketing Hub）；简介链接点击率 0.8%–2.2%（科技与 SaaS 类，influencerfee.com 二手汇总）。基准取中值，冲刺取有利端；每个激活用户约 $170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Newsletter 合作（约 $2,000）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450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670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B2B 类 CPM $50–100（beehiiv）；点击率约 1.67%（beehiiv 2025，SaaS 与 B2B 类）；每个激活用户约 $500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Product Hunt 首发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1,000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5,000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获推荐的首发首日 1,000–5,000 名访客，但只有约 10% 获推荐（shno.co 汇总）；基准按未获推荐、首发周合计约 1,000 假设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付费实验（$1,500）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290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290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Google 平均单次点击 $5.26（WordStream 2025）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自然内容与社区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7,600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15,200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假设：LinkedIn、自有 YouTube、Reddit、Show HN、Claude 扩展目录、Microsoft Store、GitHub，基准每周约 950 名，冲刺翻倍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合计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约 12,000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约 27,000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sz="1000" b="0" i="0" dirty="0">
                        <a:solidFill>
                          <a:srgbClr val="262626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Column 1"/>
          <p:cNvSpPr txBox="1"/>
          <p:nvPr/>
        </p:nvSpPr>
        <p:spPr>
          <a:xfrm>
            <a:off x="557784" y="4887468"/>
            <a:ext cx="351129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转化按公开基准的中位数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只有 Windows 电脑的访客（64.5%）能直接安装；下载率取 Unbounce 全行业中位数 6.6%（SaaS 类 3.8%），再乘 70% 的安装完成率和 30% 的激活率，得到约 360 次安装、110 名激活用户（冲刺约 240）。</a:t>
            </a:r>
          </a:p>
        </p:txBody>
      </p:sp>
      <p:sp>
        <p:nvSpPr>
          <p:cNvPr id="9" name="Column 1"/>
          <p:cNvSpPr txBox="1"/>
          <p:nvPr/>
        </p:nvSpPr>
        <p:spPr>
          <a:xfrm>
            <a:off x="4338828" y="4887468"/>
            <a:ext cx="351129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合作先 YouTube，Newsletter 先试 1 期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按公开单价，YouTube 创作者每个激活用户约 $170，Newsletter 约 $500，所以第一批合作以 YouTube 为主。考核线分两层：长期盈亏线约 $3.33；8 周首发期继续线 $100、停止线 $200。</a:t>
            </a:r>
          </a:p>
        </p:txBody>
      </p:sp>
      <p:sp>
        <p:nvSpPr>
          <p:cNvPr id="10" name="Column 1"/>
          <p:cNvSpPr txBox="1"/>
          <p:nvPr/>
        </p:nvSpPr>
        <p:spPr>
          <a:xfrm>
            <a:off x="8119872" y="4887468"/>
            <a:ext cx="351129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交叉检验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AI Context Flow 于 2025 年 11 月在 Product Hunt 首发，到 2026 年 10 月公布的用户数为 4,000 多，折合每 8 周约 700 人、约 210 名激活用户，与冲刺目标相当。基准约占 3 年累计激活用户的 0.5%。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EC1C82-A7CB-AA5E-2D3D-CA6BD5F00185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附录</a:t>
            </a:r>
            <a:r>
              <a:rPr lang="zh-CN" sz="1050" b="0" i="0" spc="300" dirty="0">
                <a:solidFill>
                  <a:srgbClr val="8C8C8C"/>
                </a:solidFill>
                <a:latin typeface="Calibri"/>
                <a:ea typeface="Microsoft YaHei"/>
              </a:rPr>
              <a:t> – APPENDIX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附录 A5：北极星之外设六层指标，全部在用户电脑上本地统计，只汇总次数</a:t>
            </a: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注：激活定义是假设，第 6 周比较“达到激活”与“未达到激活”两组的留存，差距不明显就调整定义。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来源：本报告第四章 4.3；Amplitude 2025 Product Benchmark Report；Lenny Rachitsky（2022、2020）；Userpilot 2025；RevenueCat 2026。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21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graphicFrame>
        <p:nvGraphicFramePr>
          <p:cNvPr id="7" name="Table KPI"/>
          <p:cNvGraphicFramePr>
            <a:graphicFrameLocks noGrp="1"/>
          </p:cNvGraphicFramePr>
          <p:nvPr/>
        </p:nvGraphicFramePr>
        <p:xfrm>
          <a:off x="557784" y="1645920"/>
          <a:ext cx="11073384" cy="334441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层级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指标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定义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8 周目标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为什么选它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北极星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每周跨 AI 活跃用户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当周至少两个 AI 客户端读取过记忆的用户数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第 8 周 ≥ 35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唯一同时满足四条原则的指标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066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获客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访客、下载、安装；每个激活用户成本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按渠道专用链接与首次引导问题归因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访客约 12,000；安装 ≈ 360；合作渠道 ≤ $100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只有激活用户有价值，按它算成本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066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激活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7 天激活率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7 天内批准 ≥ 1 条记忆，且 ≥ 2 个 AI 读取过记忆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≥ 30%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同时覆盖“受控”和“跨 AI”两个核心价值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留存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D7 / D30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安装后第 2 周 / 第 5 周内仍有两个以上 AI 读取记忆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D7 ≥ 40%；D30 ≥ 30%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后台工具不按登录算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留存护栏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每周维护记忆的用户比例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当周新增、修改或删除过记忆的用户比例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只观察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防止记忆变旧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066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变现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激活→付费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用满 2 个工作空间 × 用满后购买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1.5%（15% × 10%）；8 周样本小，过关看“用满”比例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分开看免费额度和价格的问题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推荐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每个激活用户带来的新用户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经模板分享链接安装并激活的用户 ÷ 同期激活用户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≥ 0.1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衡量第三章的增长飞轮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Column 1"/>
          <p:cNvSpPr txBox="1"/>
          <p:nvPr/>
        </p:nvSpPr>
        <p:spPr>
          <a:xfrm>
            <a:off x="557784" y="5191506"/>
            <a:ext cx="5358384" cy="7409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四条选指标原则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反映用户得到的价值（必须体现“跨 AI”）；领先于收入；团队每周能推动它变化；不违背隐私承诺，能在用户电脑本地统计、只汇总次数、不涉及记忆内容。</a:t>
            </a:r>
          </a:p>
        </p:txBody>
      </p:sp>
      <p:sp>
        <p:nvSpPr>
          <p:cNvPr id="9" name="Column 1"/>
          <p:cNvSpPr txBox="1"/>
          <p:nvPr/>
        </p:nvSpPr>
        <p:spPr>
          <a:xfrm>
            <a:off x="6272784" y="5191506"/>
            <a:ext cx="5358384" cy="9806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数据从哪里来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本地记录哪个 AI 在哪天读取了记忆；8 周全程为公开 Beta，Beta 期间每周发送只含次数的匿名周报；每个渠道用单独的下载链接，首次引导再问“从哪里知道 OMNA”和“是否开启了平台自带记忆”。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9706474-91D1-7B24-945C-3791C37A30F9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附录</a:t>
            </a:r>
            <a:r>
              <a:rPr lang="zh-CN" sz="1050" b="0" i="0" spc="300" dirty="0">
                <a:solidFill>
                  <a:srgbClr val="8C8C8C"/>
                </a:solidFill>
                <a:latin typeface="Calibri"/>
                <a:ea typeface="Microsoft YaHei"/>
              </a:rPr>
              <a:t> – APPENDIX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附录 A6：其余六项风险都有观察指标和触发线，到线就启动预案</a:t>
            </a: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注：风险评估为本报告判断，依据见第六章表 6-1；预警信号与应对见第六章表 6-2。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来源：本报告第六章表 6-1、6-2、6-3；Maheshwari（2026-06）；Pew Research Center 2026；Security.org 2024。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22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graphicFrame>
        <p:nvGraphicFramePr>
          <p:cNvPr id="7" name="Table risks"/>
          <p:cNvGraphicFramePr>
            <a:graphicFrameLocks noGrp="1"/>
          </p:cNvGraphicFramePr>
          <p:nvPr/>
        </p:nvGraphicFramePr>
        <p:xfrm>
          <a:off x="557784" y="1645920"/>
          <a:ext cx="11073384" cy="32232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9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902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风险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当前应对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观察指标与触发线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R1 平台免费内置记忆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站在平台之间，只做平台不愿做的跨工具、隔离与审查；保持低成本运营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按是否开启平台记忆分组的 D30 留存；两组相差超过 5 个百分点时重新评估定位</a:t>
                      </a:r>
                      <a:endParaRPr lang="zh-CN" sz="1000" b="0" i="0" dirty="0">
                        <a:solidFill>
                          <a:srgbClr val="000000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R2 用户维护成本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AI 提议、用户批准；Pro 提供记忆过期规则、版本历史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每周维护记忆的用户比例（护栏）；连续下降时优先做过期提醒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R3 隐私与信任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本地存储、逐条批准、按工作空间授权；不承诺“不离开电脑”；开源代码、签名安装包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“安心”口号的落地页转化；明显偏低时把信任说明前置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R4 第三方接入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只押注 MCP；会话开始时自动带上记忆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7 天激活率；&lt; 30% 且卡在第二个 AI 时优先修接入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R5 付费意愿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按工作空间收费，免费额度用满时才出现付费理由；规模收入靠 Team 版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用满 2 个工作空间的比例；&lt; 15% 时调整免费额度或 Pro 内容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R6 企业 IT 管控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访谈筛选问题；安装中断时收集原因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安装完成率；&lt; 70% 且权限不足占多数时评估免管理员权限安装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R7 赛道同质化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讲清“本地存储 + 用户把关”；积累职业模板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竞品功能与价格；云端竞品推出本地模式时加快模板生态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Column 1"/>
          <p:cNvSpPr txBox="1"/>
          <p:nvPr/>
        </p:nvSpPr>
        <p:spPr>
          <a:xfrm>
            <a:off x="557784" y="5070348"/>
            <a:ext cx="5358384" cy="9806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评分口径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可能性分为很低、低、中、高、很高；影响分为很小、小、中、大、致命（使 OMNA 失去存在理由）。R1 是唯一“高可能 × 致命”，R5 为高可能 × 中影响，R7 为中 × 中，其余为中可能 × 大影响。</a:t>
            </a:r>
          </a:p>
        </p:txBody>
      </p:sp>
      <p:sp>
        <p:nvSpPr>
          <p:cNvPr id="9" name="Column 1"/>
          <p:cNvSpPr txBox="1"/>
          <p:nvPr/>
        </p:nvSpPr>
        <p:spPr>
          <a:xfrm>
            <a:off x="6272784" y="5070348"/>
            <a:ext cx="5358384" cy="9806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平台动作的预警信号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平台开放记忆导出，主打转为“统一管理、按客户隔离”；平台通过 MCP 开放自家记忆，OMNA 转为审查与授权层；平台在自家推出按项目隔离，强调跨工具的工作空间。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D30D64A-62DF-92C0-C6E5-BEDCB7B62AFE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附录</a:t>
            </a:r>
            <a:r>
              <a:rPr lang="zh-CN" sz="1050" b="0" i="0" spc="300" dirty="0">
                <a:solidFill>
                  <a:srgbClr val="8C8C8C"/>
                </a:solidFill>
                <a:latin typeface="Calibri"/>
                <a:ea typeface="Microsoft YaHei"/>
              </a:rPr>
              <a:t> – APPENDIX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附录 A7：全书 37 个来源中 A 级 16 个、B 级 17 个、C 级 4 个，C 级只判断方向</a:t>
            </a: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注：分级标准见第五章 5.1；完整清单与分级见图表底稿“图5-1”B 部分（第 14–50 行）。</a:t>
            </a:r>
          </a:p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来源：本报告第一至六章参考来源。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23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sp>
        <p:nvSpPr>
          <p:cNvPr id="7" name="Group 1"/>
          <p:cNvSpPr txBox="1"/>
          <p:nvPr/>
        </p:nvSpPr>
        <p:spPr>
          <a:xfrm>
            <a:off x="557784" y="1645920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A 级支撑规模和用户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政府统计、样本量 1,000 以上的调查、产品官方页面与公开文件、同行评审研究，如 BLS、Gallup（n=22,368）、Menlo Ventures（n=5,067）、npm 官方下载量。人口、职业、AI 使用率、操作系统份额都来自这一级，所以规模和目标用户的结论可以直接用于决策。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" y="3012643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9" name="Group 2"/>
          <p:cNvSpPr txBox="1"/>
          <p:nvPr/>
        </p:nvSpPr>
        <p:spPr>
          <a:xfrm>
            <a:off x="557784" y="3158947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B 级支撑执行基准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转化率、留存率、广告单价这类数据没有政府统计，只能来自掌握大量客户数据的厂商，如 RevenueCat、Unbounce、WordStream、Lenny Rachitsky。第四章为每个基准注明口径，并取中位数而不是最好值；执行目标因此是合理的起点，需要用 8 周的实测数据逐项校准。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" y="4525670"/>
            <a:ext cx="5431536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1" name="Group 3"/>
          <p:cNvSpPr txBox="1"/>
          <p:nvPr/>
        </p:nvSpPr>
        <p:spPr>
          <a:xfrm>
            <a:off x="557784" y="4671974"/>
            <a:ext cx="5431536" cy="12204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C 级只判断方向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二手汇总、个人博客和 24 条社区原话，要么只用于判断方向，要么与 A、B 级来源交叉使用，不单独支撑任何数字目标。最大的证据缺口是知识工作者本人的声音：公开讨论以开发者为主，由 8 周计划中的 12–15 次访谈、Beta 本地统计和安装失败反馈补齐，第 8 周复盘时都会有第一批实测数据。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1645920"/>
            <a:ext cx="5093208" cy="0"/>
          </a:xfrm>
          <a:prstGeom prst="line">
            <a:avLst/>
          </a:prstGeom>
          <a:ln w="6350">
            <a:solidFill>
              <a:srgbClr val="0072BC"/>
            </a:solidFill>
          </a:ln>
        </p:spPr>
      </p:cxnSp>
      <p:sp>
        <p:nvSpPr>
          <p:cNvPr id="13" name="ChartTitle"/>
          <p:cNvSpPr txBox="1"/>
          <p:nvPr/>
        </p:nvSpPr>
        <p:spPr>
          <a:xfrm>
            <a:off x="6537960" y="1719072"/>
            <a:ext cx="5093208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dirty="0">
                <a:solidFill>
                  <a:srgbClr val="000000"/>
                </a:solidFill>
                <a:latin typeface="Calibri"/>
                <a:ea typeface="Microsoft YaHei"/>
              </a:rPr>
              <a:t>全书来源的类别与等级，个（共 37 个）</a:t>
            </a:r>
            <a:endParaRPr lang="zh-CN" sz="1100" b="0" i="0" dirty="0">
              <a:solidFill>
                <a:srgbClr val="000000"/>
              </a:solidFill>
              <a:latin typeface="Calibri"/>
              <a:ea typeface="Microsoft YaHei"/>
            </a:endParaRPr>
          </a:p>
        </p:txBody>
      </p:sp>
      <p:sp>
        <p:nvSpPr>
          <p:cNvPr id="14" name="ChartSub"/>
          <p:cNvSpPr txBox="1"/>
          <p:nvPr/>
        </p:nvSpPr>
        <p:spPr>
          <a:xfrm>
            <a:off x="6537960" y="1940052"/>
            <a:ext cx="5093208" cy="1508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737373"/>
                </a:solidFill>
                <a:latin typeface="Calibri"/>
                <a:ea typeface="Microsoft YaHei"/>
              </a:rPr>
              <a:t>深蓝 = A 级，浅蓝 = B 级，浅灰 = C 级</a:t>
            </a:r>
          </a:p>
        </p:txBody>
      </p:sp>
      <p:graphicFrame>
        <p:nvGraphicFramePr>
          <p:cNvPr id="15" name="Chart source grades"/>
          <p:cNvGraphicFramePr>
            <a:graphicFrameLocks noGrp="1"/>
          </p:cNvGraphicFramePr>
          <p:nvPr/>
        </p:nvGraphicFramePr>
        <p:xfrm>
          <a:off x="6537960" y="2145792"/>
          <a:ext cx="5093208" cy="2609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Number"/>
          <p:cNvSpPr txBox="1"/>
          <p:nvPr/>
        </p:nvSpPr>
        <p:spPr>
          <a:xfrm>
            <a:off x="6537960" y="5143043"/>
            <a:ext cx="158800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dirty="0">
                <a:solidFill>
                  <a:srgbClr val="0072BC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17" name="NumberNote"/>
          <p:cNvSpPr txBox="1"/>
          <p:nvPr/>
        </p:nvSpPr>
        <p:spPr>
          <a:xfrm>
            <a:off x="6537960" y="5545379"/>
            <a:ext cx="1588008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A 级：官方统计、大样本调查、官方页面与公开文件</a:t>
            </a:r>
          </a:p>
        </p:txBody>
      </p:sp>
      <p:sp>
        <p:nvSpPr>
          <p:cNvPr id="18" name="Number"/>
          <p:cNvSpPr txBox="1"/>
          <p:nvPr/>
        </p:nvSpPr>
        <p:spPr>
          <a:xfrm>
            <a:off x="8235696" y="5143043"/>
            <a:ext cx="158800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dirty="0">
                <a:solidFill>
                  <a:srgbClr val="000000"/>
                </a:solidFill>
                <a:latin typeface="Calibri"/>
                <a:ea typeface="Microsoft YaHei"/>
              </a:rPr>
              <a:t>17</a:t>
            </a:r>
          </a:p>
        </p:txBody>
      </p:sp>
      <p:sp>
        <p:nvSpPr>
          <p:cNvPr id="19" name="NumberNote"/>
          <p:cNvSpPr txBox="1"/>
          <p:nvPr/>
        </p:nvSpPr>
        <p:spPr>
          <a:xfrm>
            <a:off x="8235696" y="5545379"/>
            <a:ext cx="1588008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B 级：行业报告、厂商基准、投资人与分析师文章</a:t>
            </a:r>
          </a:p>
        </p:txBody>
      </p:sp>
      <p:sp>
        <p:nvSpPr>
          <p:cNvPr id="20" name="Number"/>
          <p:cNvSpPr txBox="1"/>
          <p:nvPr/>
        </p:nvSpPr>
        <p:spPr>
          <a:xfrm>
            <a:off x="9933432" y="5143043"/>
            <a:ext cx="158800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dirty="0">
                <a:solidFill>
                  <a:srgbClr val="000000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1" name="NumberNote"/>
          <p:cNvSpPr txBox="1"/>
          <p:nvPr/>
        </p:nvSpPr>
        <p:spPr>
          <a:xfrm>
            <a:off x="9933432" y="5545379"/>
            <a:ext cx="1588008" cy="3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dirty="0">
                <a:solidFill>
                  <a:srgbClr val="6E6E6E"/>
                </a:solidFill>
                <a:latin typeface="Calibri"/>
                <a:ea typeface="Microsoft YaHei"/>
              </a:rPr>
              <a:t>C 级：二手汇总、个人博客、零散原话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5A3F096-04BA-BA13-F6F6-69C14B589CCF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57784" y="5029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spc="150" dirty="0">
                <a:solidFill>
                  <a:srgbClr val="333333"/>
                </a:solidFill>
                <a:latin typeface="Calibri"/>
                <a:ea typeface="Microsoft YaHei"/>
              </a:rPr>
              <a:t>附录</a:t>
            </a:r>
            <a:r>
              <a:rPr lang="zh-CN" sz="1050" b="0" i="0" spc="300" dirty="0">
                <a:solidFill>
                  <a:srgbClr val="8C8C8C"/>
                </a:solidFill>
                <a:latin typeface="Calibri"/>
                <a:ea typeface="Microsoft YaHei"/>
              </a:rPr>
              <a:t> – APPENDIX</a:t>
            </a:r>
            <a:endParaRPr lang="zh-CN" sz="105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7784" y="804672"/>
            <a:ext cx="1107338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dirty="0">
                <a:solidFill>
                  <a:srgbClr val="000000"/>
                </a:solidFill>
                <a:latin typeface="Calibri"/>
                <a:ea typeface="Microsoft YaHei"/>
              </a:rPr>
              <a:t>附录 A8：对照 5 个公开 GTM 案例，OMNA 采用模板生态与 Team 版信号，不用邀请制</a:t>
            </a:r>
          </a:p>
        </p:txBody>
      </p:sp>
      <p:sp>
        <p:nvSpPr>
          <p:cNvPr id="4" name="Footnote"/>
          <p:cNvSpPr txBox="1"/>
          <p:nvPr/>
        </p:nvSpPr>
        <p:spPr>
          <a:xfrm>
            <a:off x="557784" y="6333744"/>
            <a:ext cx="10607040" cy="2682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A6A6A6"/>
                </a:solidFill>
                <a:latin typeface="Calibri"/>
                <a:ea typeface="Microsoft YaHei"/>
              </a:rPr>
              <a:t>来源：Slack Technologies, Form S-1（2019-04）；How They Grow, How Notion Grows（2022-09）；Drew Houston, Dropbox: Startup Lessons Learned（2010-04）；Contrary Research, HeyGen；IBM Think（2025-03-14）；TechNode（2025-12-30）。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274320" y="6464808"/>
            <a:ext cx="36576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dirty="0">
                <a:solidFill>
                  <a:srgbClr val="BFBFBF"/>
                </a:solidFill>
                <a:latin typeface="Calibri"/>
                <a:ea typeface="Microsoft YaHei"/>
              </a:rPr>
              <a:t>24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10460736" y="64648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spc="400" dirty="0">
                <a:solidFill>
                  <a:srgbClr val="BFBFBF"/>
                </a:solidFill>
                <a:latin typeface="Calibri"/>
                <a:ea typeface="Microsoft YaHei"/>
              </a:rPr>
              <a:t>O M N A</a:t>
            </a:r>
            <a:endParaRPr lang="zh-CN" sz="800" b="0" i="0" dirty="0">
              <a:solidFill>
                <a:srgbClr val="BFBFBF"/>
              </a:solidFill>
              <a:latin typeface="Calibri"/>
              <a:ea typeface="Microsoft YaHei"/>
            </a:endParaRPr>
          </a:p>
        </p:txBody>
      </p:sp>
      <p:graphicFrame>
        <p:nvGraphicFramePr>
          <p:cNvPr id="7" name="Table cases"/>
          <p:cNvGraphicFramePr>
            <a:graphicFrameLocks noGrp="1"/>
          </p:cNvGraphicFramePr>
          <p:nvPr/>
        </p:nvGraphicFramePr>
        <p:xfrm>
          <a:off x="557784" y="1645920"/>
          <a:ext cx="11073384" cy="334441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5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0718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案例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关键做法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OMNA 的对应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启示</a:t>
                      </a:r>
                      <a:endParaRPr lang="zh-CN" sz="1000" b="0" i="0" dirty="0">
                        <a:solidFill>
                          <a:srgbClr val="FFFFFF"/>
                        </a:solidFill>
                        <a:latin typeface="Calibri"/>
                        <a:ea typeface="Microsoft YaHei"/>
                      </a:endParaRP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Slack（S-1，2019）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自下而上的免费增值：60 多万个组织在用，约 8.8 万个付费（约 15%），再由团队付费扩张；被 Microsoft Teams 免费捆绑后增长受压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免费核心 + 工作空间付费；站在平台之间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中立本身不够，要守住平台做不到的功能；给 Team 版设启动信号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Notion（How They Grow，2022）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首发即带 30 个自制模板，模板生态带来搜索与口碑；用一个落地页招募核心用户，收到 400 份申请，只选 20 人起步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3 套职业模板 + 模板分享飞轮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冲刺 4 之后组织 10–20 名模板共建者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Dropbox（Startup Lessons Learned，2010）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双向奖励的推荐计划：邀请人和被邀请人都得到额外空间，注册量长期提升约 60%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推荐只靠模板分享，8 周目标 0.1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奖励可以直接用收费单位（工作空间）；8 周内先观察自然分享率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HeyGen（Contrary Research）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中国团队，迁到洛杉矶面向美国客户；每周发布；免费版带水印传播；Creator、Team、Enterprise 分层；178 天达到 100 万美元 ARR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每两周一次发布；Free、Pro、Team 分层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发布节奏一致；面向美国用户，信任要有可核实的证据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Manus（IBM 2025；TechNode 2025）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邀请制加演示视频，宣称 200 万人排队；2025 年 12 月 ARR 达 1 亿美元，随后被 Meta 收购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公开 Beta；等候名单 ≥ 200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dirty="0">
                          <a:solidFill>
                            <a:srgbClr val="000000"/>
                          </a:solidFill>
                          <a:latin typeface="Calibri"/>
                          <a:ea typeface="Microsoft YaHei"/>
                        </a:rPr>
                        <a:t>OMNA 8 周的目标是读出真实的激活和留存，不采用制造稀缺的邀请制</a:t>
                      </a:r>
                    </a:p>
                  </a:txBody>
                  <a:tcPr marL="73152" marR="73152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Column 1"/>
          <p:cNvSpPr txBox="1"/>
          <p:nvPr/>
        </p:nvSpPr>
        <p:spPr>
          <a:xfrm>
            <a:off x="557784" y="5191506"/>
            <a:ext cx="3511296" cy="9806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已覆盖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市场与时机、ICP、定位、定价与商业模式、渠道与首发、预算与单位经济、KPI 与北极星、证据与假设管理、风险与竞争应对，都在正文中有对应页。</a:t>
            </a:r>
          </a:p>
        </p:txBody>
      </p:sp>
      <p:sp>
        <p:nvSpPr>
          <p:cNvPr id="9" name="Column 1"/>
          <p:cNvSpPr txBox="1"/>
          <p:nvPr/>
        </p:nvSpPr>
        <p:spPr>
          <a:xfrm>
            <a:off x="4338828" y="5191506"/>
            <a:ext cx="3511296" cy="9806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部分覆盖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扩张路径只有 Team 版的方向和启动信号，具体方案待第 8 周后访谈；生态与合作伙伴只有 Claude 扩展目录和 Microsoft Store，个人工具阶段暂不设伙伴计划。</a:t>
            </a:r>
          </a:p>
        </p:txBody>
      </p:sp>
      <p:sp>
        <p:nvSpPr>
          <p:cNvPr id="10" name="Column 1"/>
          <p:cNvSpPr txBox="1"/>
          <p:nvPr/>
        </p:nvSpPr>
        <p:spPr>
          <a:xfrm>
            <a:off x="8119872" y="5191506"/>
            <a:ext cx="3511296" cy="9806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dirty="0">
                <a:solidFill>
                  <a:srgbClr val="000000"/>
                </a:solidFill>
                <a:latin typeface="Calibri"/>
                <a:ea typeface="Microsoft YaHei"/>
              </a:rPr>
              <a:t>待补</a:t>
            </a:r>
            <a:endParaRPr lang="zh-CN" sz="1200" b="0" i="0" dirty="0">
              <a:solidFill>
                <a:srgbClr val="000000"/>
              </a:solidFill>
              <a:latin typeface="Calibri"/>
              <a:ea typeface="Microsoft YaHei"/>
            </a:endParaRP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dirty="0">
                <a:solidFill>
                  <a:srgbClr val="6E6E6E"/>
                </a:solidFill>
                <a:latin typeface="Calibri"/>
                <a:ea typeface="Microsoft YaHei"/>
              </a:rPr>
              <a:t>客户证据：首发时还没有用户，建议冲刺 3 起从 Beta 用户中整理 2–3 个行业案例，用于 LinkedIn 内容。销售赋能不适用：自助购买，不设销售团队。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E14CC9-B697-0D35-1F32-24C649102647}"/>
              </a:ext>
            </a:extLst>
          </p:cNvPr>
          <p:cNvCxnSpPr/>
          <p:nvPr/>
        </p:nvCxnSpPr>
        <p:spPr>
          <a:xfrm>
            <a:off x="557784" y="1264204"/>
            <a:ext cx="1107338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spc="600" dirty="0">
                <a:solidFill>
                  <a:srgbClr val="8C8C8C"/>
                </a:solidFill>
                <a:latin typeface="Calibri"/>
                <a:ea typeface="Microsoft YaHei"/>
              </a:rPr>
              <a:t>O M N A</a:t>
            </a:r>
            <a:endParaRPr lang="zh-CN" sz="1100" b="0" i="0" dirty="0">
              <a:solidFill>
                <a:srgbClr val="8C8C8C"/>
              </a:solidFill>
              <a:latin typeface="Calibri"/>
              <a:ea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1E1CC539-EF04-4A4A-90CB-88B09D63B9F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edc9661c-103d-413c-9856-e5c0a559930d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31605BC-D88B-49E8-BEE9-68ED69A98F3C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19237</Words>
  <Application>Microsoft Office PowerPoint</Application>
  <PresentationFormat>宽屏</PresentationFormat>
  <Paragraphs>891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睿 杜</cp:lastModifiedBy>
  <cp:revision>29</cp:revision>
  <dcterms:created xsi:type="dcterms:W3CDTF">2013-01-27T09:14:16Z</dcterms:created>
  <dcterms:modified xsi:type="dcterms:W3CDTF">2026-10-04T07:31:29Z</dcterms:modified>
  <cp:category/>
</cp:coreProperties>
</file>